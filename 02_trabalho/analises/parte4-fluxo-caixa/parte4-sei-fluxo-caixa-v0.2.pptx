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Estoque de lotes (R$ mi, preços de out/2025)</c:v>
                </c:pt>
              </c:strCache>
            </c:strRef>
          </c:tx>
          <c:spPr>
            <a:ln w="38100">
              <a:solidFill>
                <a:srgbClr val="1F3A2E"/>
              </a:solidFill>
            </a:ln>
          </c:spPr>
          <c:marker>
            <c:spPr>
              <a:solidFill>
                <a:srgbClr val="1F3A2E"/>
              </a:solidFill>
            </c:spPr>
          </c:marker>
          <c:cat>
            <c:strRef>
              <c:f>Sheet1!$A$2:$A$9</c:f>
              <c:strCache>
                <c:ptCount val="8"/>
                <c:pt idx="0">
                  <c:v>2018 (inventário + arquivo 17)</c:v>
                </c:pt>
                <c:pt idx="1">
                  <c:v>2019</c:v>
                </c:pt>
                <c:pt idx="2">
                  <c:v>2020</c:v>
                </c:pt>
                <c:pt idx="3">
                  <c:v>2021</c:v>
                </c:pt>
                <c:pt idx="4">
                  <c:v>2022</c:v>
                </c:pt>
                <c:pt idx="5">
                  <c:v>2023</c:v>
                </c:pt>
                <c:pt idx="6">
                  <c:v>2024</c:v>
                </c:pt>
                <c:pt idx="7">
                  <c:v>out/2025</c:v>
                </c:pt>
              </c:strCache>
            </c:strRef>
          </c:cat>
          <c:val>
            <c:numRef>
              <c:f>Sheet1!$B$2:$B$9</c:f>
              <c:numCache>
                <c:formatCode>General</c:formatCode>
                <c:ptCount val="8"/>
                <c:pt idx="0">
                  <c:v>242.3</c:v>
                </c:pt>
                <c:pt idx="1">
                  <c:v>220.5</c:v>
                </c:pt>
                <c:pt idx="2">
                  <c:v>197.3</c:v>
                </c:pt>
                <c:pt idx="3">
                  <c:v>166.3</c:v>
                </c:pt>
                <c:pt idx="4">
                  <c:v>147.6</c:v>
                </c:pt>
                <c:pt idx="5">
                  <c:v>136.1</c:v>
                </c:pt>
                <c:pt idx="6">
                  <c:v>124.3</c:v>
                </c:pt>
                <c:pt idx="7">
                  <c:v>110.1</c:v>
                </c:pt>
              </c:numCache>
            </c:numRef>
          </c:val>
          <c:smooth val="0"/>
        </c:ser>
        <c:dLbls>
          <c:numFmt formatCode="#,##0.0" sourceLinked="0"/>
          <c:txPr>
            <a:bodyPr/>
            <a:lstStyle/>
            <a:p>
              <a:pPr>
                <a:defRPr sz="11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9DEDB"/>
            </a:solidFill>
          </a:ln>
        </c:spPr>
        <c:txPr>
          <a:bodyPr/>
          <a:lstStyle/>
          <a:p>
            <a:pPr>
              <a:defRPr sz="1100"/>
            </a:pPr>
          </a:p>
        </c:txPr>
        <c:crossAx val="2140495176"/>
        <c:crosses val="autoZero"/>
        <c:auto val="1"/>
        <c:lblAlgn val="ctr"/>
        <c:lblOffset val="100"/>
        <c:noMultiLvlLbl val="0"/>
      </c:catAx>
      <c:valAx>
        <c:axId val="2140495176"/>
        <c:scaling>
          <c:min val="0.0"/>
        </c:scaling>
        <c:delete val="0"/>
        <c:axPos val="l"/>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118791784"/>
        <c:crosses val="autoZero"/>
      </c:valAx>
    </c:plotArea>
    <c:plotVisOnly val="1"/>
    <c:dispBlanksAs val="gap"/>
    <c:showDLblsOverMax val="0"/>
  </c:chart>
  <c:txPr>
    <a:bodyPr/>
    <a:lstStyle/>
    <a:p>
      <a:pPr>
        <a:defRPr sz="1200">
          <a:solidFill>
            <a:srgbClr val="5E6A64"/>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Lotes</c:v>
                </c:pt>
              </c:strCache>
            </c:strRef>
          </c:tx>
          <c:dPt>
            <c:idx val="0"/>
            <c:spPr>
              <a:solidFill>
                <a:srgbClr val="1F3A2E"/>
              </a:solidFill>
            </c:spPr>
          </c:dPt>
          <c:dPt>
            <c:idx val="1"/>
            <c:spPr>
              <a:solidFill>
                <a:srgbClr val="4E7A5E"/>
              </a:solidFill>
            </c:spPr>
          </c:dPt>
          <c:dPt>
            <c:idx val="2"/>
            <c:spPr>
              <a:solidFill>
                <a:srgbClr val="4E7A5E"/>
              </a:solidFill>
            </c:spPr>
          </c:dPt>
          <c:dPt>
            <c:idx val="3"/>
            <c:spPr>
              <a:solidFill>
                <a:srgbClr val="4E7A5E"/>
              </a:solidFill>
            </c:spPr>
          </c:dPt>
          <c:dPt>
            <c:idx val="4"/>
            <c:spPr>
              <a:solidFill>
                <a:srgbClr val="B85A22"/>
              </a:solidFill>
            </c:spPr>
          </c:dPt>
          <c:dPt>
            <c:idx val="5"/>
            <c:spPr>
              <a:solidFill>
                <a:srgbClr val="4E7A5E"/>
              </a:solidFill>
            </c:spPr>
          </c:dPt>
          <c:dPt>
            <c:idx val="6"/>
            <c:spPr>
              <a:solidFill>
                <a:srgbClr val="B85A22"/>
              </a:solidFill>
            </c:spPr>
          </c:dPt>
          <c:dPt>
            <c:idx val="7"/>
            <c:spPr>
              <a:solidFill>
                <a:srgbClr val="4E7A5E"/>
              </a:solidFill>
            </c:spPr>
          </c:dPt>
          <c:cat>
            <c:strRef>
              <c:f>Sheet1!$A$2:$A$9</c:f>
              <c:strCache>
                <c:ptCount val="8"/>
                <c:pt idx="0">
                  <c:v>Venda (dinheiro)</c:v>
                </c:pt>
                <c:pt idx="1">
                  <c:v>Acordos, indenizações e distratos</c:v>
                </c:pt>
                <c:pt idx="2">
                  <c:v>Pagamento de obras</c:v>
                </c:pt>
                <c:pt idx="3">
                  <c:v>Sócios e família</c:v>
                </c:pt>
                <c:pt idx="4">
                  <c:v>Troca por bem que não está em 2025</c:v>
                </c:pt>
                <c:pt idx="5">
                  <c:v>Empréstimo de sócio pago com lote</c:v>
                </c:pt>
                <c:pt idx="6">
                  <c:v>Sem destino documentado</c:v>
                </c:pt>
                <c:pt idx="7">
                  <c:v>Troca por outro lote do estoque</c:v>
                </c:pt>
              </c:strCache>
            </c:strRef>
          </c:cat>
          <c:val>
            <c:numRef>
              <c:f>Sheet1!$B$2:$B$9</c:f>
              <c:numCache>
                <c:formatCode>General</c:formatCode>
                <c:ptCount val="8"/>
                <c:pt idx="0">
                  <c:v>160.0</c:v>
                </c:pt>
                <c:pt idx="1">
                  <c:v>77.0</c:v>
                </c:pt>
                <c:pt idx="2">
                  <c:v>23.0</c:v>
                </c:pt>
                <c:pt idx="3">
                  <c:v>20.0</c:v>
                </c:pt>
                <c:pt idx="4">
                  <c:v>9.0</c:v>
                </c:pt>
                <c:pt idx="5">
                  <c:v>8.0</c:v>
                </c:pt>
                <c:pt idx="6">
                  <c:v>7.0</c:v>
                </c:pt>
                <c:pt idx="7">
                  <c:v>6.0</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9DEDB"/>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 mi em 15 meses</c:v>
                </c:pt>
              </c:strCache>
            </c:strRef>
          </c:tx>
          <c:dPt>
            <c:idx val="0"/>
            <c:spPr>
              <a:solidFill>
                <a:srgbClr val="1F3A2E"/>
              </a:solidFill>
            </c:spPr>
          </c:dPt>
          <c:dPt>
            <c:idx val="1"/>
            <c:spPr>
              <a:solidFill>
                <a:srgbClr val="4E7A5E"/>
              </a:solidFill>
            </c:spPr>
          </c:dPt>
          <c:dPt>
            <c:idx val="2"/>
            <c:spPr>
              <a:solidFill>
                <a:srgbClr val="4E7A5E"/>
              </a:solidFill>
            </c:spPr>
          </c:dPt>
          <c:dPt>
            <c:idx val="3"/>
            <c:spPr>
              <a:solidFill>
                <a:srgbClr val="4E7A5E"/>
              </a:solidFill>
            </c:spPr>
          </c:dPt>
          <c:dPt>
            <c:idx val="4"/>
            <c:spPr>
              <a:solidFill>
                <a:srgbClr val="4E7A5E"/>
              </a:solidFill>
            </c:spPr>
          </c:dPt>
          <c:cat>
            <c:strRef>
              <c:f>Sheet1!$A$2:$A$6</c:f>
              <c:strCache>
                <c:ptCount val="5"/>
                <c:pt idx="0">
                  <c:v>Manter a empresa</c:v>
                </c:pt>
                <c:pt idx="1">
                  <c:v>Obras, projetos e combustível</c:v>
                </c:pt>
                <c:pt idx="2">
                  <c:v>Compra de bens</c:v>
                </c:pt>
                <c:pt idx="3">
                  <c:v>Pago com lotes</c:v>
                </c:pt>
                <c:pt idx="4">
                  <c:v>Dívidas e acertos</c:v>
                </c:pt>
              </c:strCache>
            </c:strRef>
          </c:cat>
          <c:val>
            <c:numRef>
              <c:f>Sheet1!$B$2:$B$6</c:f>
              <c:numCache>
                <c:formatCode>General</c:formatCode>
                <c:ptCount val="5"/>
                <c:pt idx="0">
                  <c:v>5.45</c:v>
                </c:pt>
                <c:pt idx="1">
                  <c:v>0.53</c:v>
                </c:pt>
                <c:pt idx="2">
                  <c:v>1.79</c:v>
                </c:pt>
                <c:pt idx="3">
                  <c:v>1.44</c:v>
                </c:pt>
                <c:pt idx="4">
                  <c:v>0.68</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DB"/>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9DEDB"/>
              </a:solidFill>
            </a:ln>
          </c:spPr>
        </c:majorGridlines>
        <c:numFmt sourceLinked="0" formatCode="0.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Sheet1!$A$2:$A$10</c:f>
              <c:strCache>
                <c:ptCount val="9"/>
                <c:pt idx="0">
                  <c:v>Lotes vendidos em dinheiro
+59,1</c:v>
                </c:pt>
                <c:pt idx="1">
                  <c:v>Aluguéis
+3,0</c:v>
                </c:pt>
                <c:pt idx="2">
                  <c:v>Lotes e bens sem destino
+4,6</c:v>
                </c:pt>
                <c:pt idx="3">
                  <c:v>Manter: gastos recorrentes
−20,9</c:v>
                </c:pt>
                <c:pt idx="4">
                  <c:v>Manter: multas, acordos, lucros
−0,5</c:v>
                </c:pt>
                <c:pt idx="5">
                  <c:v>Dívidas de 2018 pagas
−5,6</c:v>
                </c:pt>
                <c:pt idx="6">
                  <c:v>Bens comprados
−1,7</c:v>
                </c:pt>
                <c:pt idx="7">
                  <c:v>Conclusão de loteamentos
−0,4</c:v>
                </c:pt>
                <c:pt idx="8">
                  <c:v>Sem explicação
+37,6</c:v>
                </c:pt>
              </c:strCache>
            </c:strRef>
          </c:cat>
          <c:val>
            <c:numRef>
              <c:f>Sheet1!$B$2:$B$10</c:f>
              <c:numCache>
                <c:formatCode>General</c:formatCode>
                <c:ptCount val="9"/>
                <c:pt idx="0">
                  <c:v>0.0</c:v>
                </c:pt>
                <c:pt idx="1">
                  <c:v>59.1</c:v>
                </c:pt>
                <c:pt idx="2">
                  <c:v>62.2</c:v>
                </c:pt>
                <c:pt idx="3">
                  <c:v>45.8</c:v>
                </c:pt>
                <c:pt idx="4">
                  <c:v>45.3</c:v>
                </c:pt>
                <c:pt idx="5">
                  <c:v>39.6</c:v>
                </c:pt>
                <c:pt idx="6">
                  <c:v>38.0</c:v>
                </c:pt>
                <c:pt idx="7">
                  <c:v>37.6</c:v>
                </c:pt>
                <c:pt idx="8">
                  <c:v>0.0</c:v>
                </c:pt>
              </c:numCache>
            </c:numRef>
          </c:val>
        </c:ser>
        <c:ser>
          <c:idx val="1"/>
          <c:order val="1"/>
          <c:tx>
            <c:strRef>
              <c:f>Sheet1!$C$1</c:f>
              <c:strCache>
                <c:ptCount val="1"/>
                <c:pt idx="0">
                  <c:v>valor</c:v>
                </c:pt>
              </c:strCache>
            </c:strRef>
          </c:tx>
          <c:dPt>
            <c:idx val="0"/>
            <c:spPr>
              <a:solidFill>
                <a:srgbClr val="4E7A5E"/>
              </a:solidFill>
            </c:spPr>
          </c:dPt>
          <c:dPt>
            <c:idx val="1"/>
            <c:spPr>
              <a:solidFill>
                <a:srgbClr val="4E7A5E"/>
              </a:solidFill>
            </c:spPr>
          </c:dPt>
          <c:dPt>
            <c:idx val="2"/>
            <c:spPr>
              <a:solidFill>
                <a:srgbClr val="4E7A5E"/>
              </a:solidFill>
            </c:spPr>
          </c:dPt>
          <c:dPt>
            <c:idx val="3"/>
            <c:spPr>
              <a:solidFill>
                <a:srgbClr val="B85A22"/>
              </a:solidFill>
            </c:spPr>
          </c:dPt>
          <c:dPt>
            <c:idx val="4"/>
            <c:spPr>
              <a:solidFill>
                <a:srgbClr val="B85A22"/>
              </a:solidFill>
            </c:spPr>
          </c:dPt>
          <c:dPt>
            <c:idx val="5"/>
            <c:spPr>
              <a:solidFill>
                <a:srgbClr val="B85A22"/>
              </a:solidFill>
            </c:spPr>
          </c:dPt>
          <c:dPt>
            <c:idx val="6"/>
            <c:spPr>
              <a:solidFill>
                <a:srgbClr val="B85A22"/>
              </a:solidFill>
            </c:spPr>
          </c:dPt>
          <c:dPt>
            <c:idx val="7"/>
            <c:spPr>
              <a:solidFill>
                <a:srgbClr val="B85A22"/>
              </a:solidFill>
            </c:spPr>
          </c:dPt>
          <c:dPt>
            <c:idx val="8"/>
            <c:spPr>
              <a:solidFill>
                <a:srgbClr val="1F3A2E"/>
              </a:solidFill>
            </c:spPr>
          </c:dPt>
          <c:cat>
            <c:strRef>
              <c:f>Sheet1!$A$2:$A$10</c:f>
              <c:strCache>
                <c:ptCount val="9"/>
                <c:pt idx="0">
                  <c:v>Lotes vendidos em dinheiro
+59,1</c:v>
                </c:pt>
                <c:pt idx="1">
                  <c:v>Aluguéis
+3,0</c:v>
                </c:pt>
                <c:pt idx="2">
                  <c:v>Lotes e bens sem destino
+4,6</c:v>
                </c:pt>
                <c:pt idx="3">
                  <c:v>Manter: gastos recorrentes
−20,9</c:v>
                </c:pt>
                <c:pt idx="4">
                  <c:v>Manter: multas, acordos, lucros
−0,5</c:v>
                </c:pt>
                <c:pt idx="5">
                  <c:v>Dívidas de 2018 pagas
−5,6</c:v>
                </c:pt>
                <c:pt idx="6">
                  <c:v>Bens comprados
−1,7</c:v>
                </c:pt>
                <c:pt idx="7">
                  <c:v>Conclusão de loteamentos
−0,4</c:v>
                </c:pt>
                <c:pt idx="8">
                  <c:v>Sem explicação
+37,6</c:v>
                </c:pt>
              </c:strCache>
            </c:strRef>
          </c:cat>
          <c:val>
            <c:numRef>
              <c:f>Sheet1!$C$2:$C$10</c:f>
              <c:numCache>
                <c:formatCode>General</c:formatCode>
                <c:ptCount val="9"/>
                <c:pt idx="0">
                  <c:v>59.1</c:v>
                </c:pt>
                <c:pt idx="1">
                  <c:v>3.0</c:v>
                </c:pt>
                <c:pt idx="2">
                  <c:v>4.6</c:v>
                </c:pt>
                <c:pt idx="3">
                  <c:v>20.9</c:v>
                </c:pt>
                <c:pt idx="4">
                  <c:v>0.5</c:v>
                </c:pt>
                <c:pt idx="5">
                  <c:v>5.6</c:v>
                </c:pt>
                <c:pt idx="6">
                  <c:v>1.7</c:v>
                </c:pt>
                <c:pt idx="7">
                  <c:v>0.4</c:v>
                </c:pt>
                <c:pt idx="8">
                  <c:v>37.6</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DB"/>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 mi</c:v>
                </c:pt>
              </c:strCache>
            </c:strRef>
          </c:tx>
          <c:dPt>
            <c:idx val="0"/>
            <c:spPr>
              <a:solidFill>
                <a:srgbClr val="B85A22"/>
              </a:solidFill>
            </c:spPr>
          </c:dPt>
          <c:dPt>
            <c:idx val="1"/>
            <c:spPr>
              <a:solidFill>
                <a:srgbClr val="B85A22"/>
              </a:solidFill>
            </c:spPr>
          </c:dPt>
          <c:dPt>
            <c:idx val="2"/>
            <c:spPr>
              <a:solidFill>
                <a:srgbClr val="4E7A5E"/>
              </a:solidFill>
            </c:spPr>
          </c:dPt>
          <c:dPt>
            <c:idx val="3"/>
            <c:spPr>
              <a:solidFill>
                <a:srgbClr val="4E7A5E"/>
              </a:solidFill>
            </c:spPr>
          </c:dPt>
          <c:dPt>
            <c:idx val="4"/>
            <c:spPr>
              <a:solidFill>
                <a:srgbClr val="1F3A2E"/>
              </a:solidFill>
            </c:spPr>
          </c:dPt>
          <c:cat>
            <c:strRef>
              <c:f>Sheet1!$A$2:$A$6</c:f>
              <c:strCache>
                <c:ptCount val="5"/>
                <c:pt idx="0">
                  <c:v>Receita pelo PIS/COFINS</c:v>
                </c:pt>
                <c:pt idx="1">
                  <c:v>Vendas pelas comissões</c:v>
                </c:pt>
                <c:pt idx="2">
                  <c:v>Modelo: preço de 2018</c:v>
                </c:pt>
                <c:pt idx="3">
                  <c:v>Modelo: intermediário</c:v>
                </c:pt>
                <c:pt idx="4">
                  <c:v>Modelo: preço do grupo</c:v>
                </c:pt>
              </c:strCache>
            </c:strRef>
          </c:cat>
          <c:val>
            <c:numRef>
              <c:f>Sheet1!$B$2:$B$6</c:f>
              <c:numCache>
                <c:formatCode>General</c:formatCode>
                <c:ptCount val="5"/>
                <c:pt idx="0">
                  <c:v>11.0</c:v>
                </c:pt>
                <c:pt idx="1">
                  <c:v>6.2</c:v>
                </c:pt>
                <c:pt idx="2">
                  <c:v>4.3</c:v>
                </c:pt>
                <c:pt idx="3">
                  <c:v>8.9</c:v>
                </c:pt>
                <c:pt idx="4">
                  <c:v>9.9</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D9DEDB"/>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Rascunho para discussão. O estudo segue o dinheiro: quanto entrou com os lotes que saíram de 2019 a 2024, quanto o grupo gastou para manter a empresa e pagar dívidas, e quanto sobra sem explicação.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Preço de referência: média do próprio grupo de 2025, trazida pelo IPCA à data da venda e sustentada pelos impostos e comissões pagos (slide 8). No preço de 2018 do inventário a conta fecha em R$ 2,0 mi; no intermediário, R$ 23,2 mi.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2018 o grupo atribuía valor de investimento aos loteamentos em execução e contratados. Em 2025 os mesmos empreendimentos valem zero e geram multa. Rafael soma lotes executados com multas, o que é contraditório: se há multa por distrato, não há lote; se há lote, não há multa.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Estoque de lotes executados, todos no mesmo preço (média do grupo em out/2025), para que a queda mostre só os lotes que saíram e não a variação de preço. Saídas sem data e vendas antigas que ainda estavam na contagem de 2018 foram distribuídas igualmente entre 2018 e 2024.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Lotes por forma de saída. Só a venda gera dinheiro; vendas com parte em veículo ou imóvel contam como dinheiro porque esses bens não aparecem no inventário de 2025. As demais formas têm destino declarado. Lotes sem informação não têm destino documentado (premissa P4).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Método decidido pelo Luís: a média mensal dos gastos recorrentes da SEI nos 15 meses (preços de mar/2024) é levada a cada mês de jan/2019 a dez/2024 pelo IPCA. Recorrentes incluem folha, pró-labore, impostos, juros, comissões, divisão de aluguéis, obras em loteamentos finalizados e despesas de familiares e de outras empresas. Gastos extraordinários (multas, acordos, lucros) entram uma vez, como pagos. Combustível não é recorrente: indica máquinas em obra.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Entradas em verde, saídas em terracota. Dívidas: saldo de jan/2019 da SEI menos a dívida em 31/12/2024, mais o acerto com a Flávia Manica. Conclusão de loteamentos: só o que os números do grupo documentam (Falavigna: R$ 2,45 mi a concluir em 2018, R$ 2,0 mi ainda a pagar em 2025).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grupo não informou por quanto vendeu cada lote. Mas, nos 15 meses de relatórios, a SEI pagou PIS e COFINS sobre uma receita de cerca de R$ 11 mi e comissões de corretagem sobre cerca de R$ 6,8 mi de vendas. Nos mesmos meses, o preço do grupo dá vendas desse tamanho; o preço de 2018 dá metade. A base de PIS e COFINS também inclui aluguéis, serviços e parcelas de vendas antigas.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Só os aluguéis da SEI entram na conta, pela relação de aluguéis de 2018. As vendas de terras e a soja são de outras empresas do grupo (Hotel Princesa dos Vales / São Crispin) e não foram somadas. Os relatórios mensais mostram que esse dinheiro passa pelo caixa da SEI, o que precisa ser esclarecido.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Primeiro vêm os blocos em separado; só depois o total do tópico. O 11.2.1 vai a zero: sem multa enquanto os contratos estiverem vigentes, e o valor sem explicação entra como investimento a demonstrar. Do 11.2.2, 11.2.3 e 11.2.4 sai o que já foi pago com lotes que saíram do inventário (cobrança dupla): 4 lotes da SEI contados como de terceiros, a pavimentação do Colina do Retiro II, as obras do Falavigna, a comissão de Susin e o lote da Solar Serra. Regra: só cobranças futuras ficam no 11.2.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Dois caminhos: os valores reais permitem recalcular; sem eles, vale a devolução de 1/6.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Tudo aqui é provisório. Os números mudam quando os materiais em edição forem fechados e quando o Luís aprovar as premissas.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2E"/>
        </a:solidFill>
        <a:effectLst/>
      </p:bgPr>
    </p:bg>
    <p:spTree>
      <p:nvGrpSpPr>
        <p:cNvPr id="1" name=""/>
        <p:cNvGrpSpPr/>
        <p:nvPr/>
      </p:nvGrpSpPr>
      <p:grpSpPr/>
      <p:sp>
        <p:nvSpPr>
          <p:cNvPr id="2" name="TextBox 1"/>
          <p:cNvSpPr txBox="1"/>
          <p:nvPr/>
        </p:nvSpPr>
        <p:spPr>
          <a:xfrm>
            <a:off x="822960" y="1554480"/>
            <a:ext cx="10515600" cy="1097280"/>
          </a:xfrm>
          <a:prstGeom prst="rect">
            <a:avLst/>
          </a:prstGeom>
          <a:noFill/>
        </p:spPr>
        <p:txBody>
          <a:bodyPr wrap="square" anchor="t" lIns="45720" rIns="45720">
            <a:spAutoFit/>
          </a:bodyPr>
          <a:lstStyle/>
          <a:p>
            <a:pPr algn="l">
              <a:spcAft>
                <a:spcPts val="600"/>
              </a:spcAft>
            </a:pPr>
            <a:r>
              <a:rPr sz="3600" b="1" i="0">
                <a:solidFill>
                  <a:srgbClr val="FFFFFF"/>
                </a:solidFill>
                <a:latin typeface="Cambria"/>
              </a:rPr>
              <a:t>Para onde foi o dinheiro dos lotes vendidos?</a:t>
            </a:r>
          </a:p>
        </p:txBody>
      </p:sp>
      <p:sp>
        <p:nvSpPr>
          <p:cNvPr id="3" name="TextBox 2"/>
          <p:cNvSpPr txBox="1"/>
          <p:nvPr/>
        </p:nvSpPr>
        <p:spPr>
          <a:xfrm>
            <a:off x="822960" y="2697480"/>
            <a:ext cx="10515600" cy="731520"/>
          </a:xfrm>
          <a:prstGeom prst="rect">
            <a:avLst/>
          </a:prstGeom>
          <a:noFill/>
        </p:spPr>
        <p:txBody>
          <a:bodyPr wrap="square" anchor="t" lIns="45720" rIns="45720">
            <a:spAutoFit/>
          </a:bodyPr>
          <a:lstStyle/>
          <a:p>
            <a:pPr algn="l">
              <a:spcAft>
                <a:spcPts val="600"/>
              </a:spcAft>
            </a:pPr>
            <a:r>
              <a:rPr sz="2200" b="0" i="0">
                <a:solidFill>
                  <a:srgbClr val="ECF1ED"/>
                </a:solidFill>
                <a:latin typeface="Calibri"/>
              </a:rPr>
              <a:t>SIVIERO EMPREENDIMENTOS IMOBILIÁRIOS · do inventário de 2018 a 31/12/2024</a:t>
            </a:r>
          </a:p>
        </p:txBody>
      </p:sp>
      <p:sp>
        <p:nvSpPr>
          <p:cNvPr id="4" name="TextBox 3"/>
          <p:cNvSpPr txBox="1"/>
          <p:nvPr/>
        </p:nvSpPr>
        <p:spPr>
          <a:xfrm>
            <a:off x="822960" y="3429000"/>
            <a:ext cx="10515600" cy="731520"/>
          </a:xfrm>
          <a:prstGeom prst="rect">
            <a:avLst/>
          </a:prstGeom>
          <a:noFill/>
        </p:spPr>
        <p:txBody>
          <a:bodyPr wrap="square" anchor="t" lIns="45720" rIns="45720">
            <a:spAutoFit/>
          </a:bodyPr>
          <a:lstStyle/>
          <a:p>
            <a:pPr algn="l">
              <a:spcAft>
                <a:spcPts val="600"/>
              </a:spcAft>
            </a:pPr>
            <a:r>
              <a:rPr sz="1800" b="0" i="0">
                <a:solidFill>
                  <a:srgbClr val="ECF1ED"/>
                </a:solidFill>
                <a:latin typeface="Calibri"/>
              </a:rPr>
              <a:t>Parte 4 — Contratos | Indenizações | Compromissos | Empréstimos</a:t>
            </a:r>
          </a:p>
        </p:txBody>
      </p:sp>
      <p:sp>
        <p:nvSpPr>
          <p:cNvPr id="5" name="TextBox 4"/>
          <p:cNvSpPr txBox="1"/>
          <p:nvPr/>
        </p:nvSpPr>
        <p:spPr>
          <a:xfrm>
            <a:off x="822960" y="5394960"/>
            <a:ext cx="10515600" cy="457200"/>
          </a:xfrm>
          <a:prstGeom prst="rect">
            <a:avLst/>
          </a:prstGeom>
          <a:noFill/>
        </p:spPr>
        <p:txBody>
          <a:bodyPr wrap="square" anchor="t" lIns="45720" rIns="45720">
            <a:spAutoFit/>
          </a:bodyPr>
          <a:lstStyle/>
          <a:p>
            <a:pPr algn="l">
              <a:spcAft>
                <a:spcPts val="600"/>
              </a:spcAft>
            </a:pPr>
            <a:r>
              <a:rPr sz="1400" b="0" i="0">
                <a:solidFill>
                  <a:srgbClr val="ECF1ED"/>
                </a:solidFill>
                <a:latin typeface="Calibri"/>
              </a:rPr>
              <a:t>Rascunho v0.2 para discussão · 28/10/2026 · valores provisórios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patrimônio caiu e o dinheiro não aparece</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fluxo-caixa-sei-v0.2.xlsx, aba Ponte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2</a:t>
            </a:r>
          </a:p>
        </p:txBody>
      </p:sp>
      <p:sp>
        <p:nvSpPr>
          <p:cNvPr id="6" name="Rounded Rectangle 5"/>
          <p:cNvSpPr/>
          <p:nvPr/>
        </p:nvSpPr>
        <p:spPr>
          <a:xfrm>
            <a:off x="548640"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310</a:t>
            </a:r>
          </a:p>
        </p:txBody>
      </p:sp>
      <p:sp>
        <p:nvSpPr>
          <p:cNvPr id="8" name="TextBox 7"/>
          <p:cNvSpPr txBox="1"/>
          <p:nvPr/>
        </p:nvSpPr>
        <p:spPr>
          <a:xfrm>
            <a:off x="731520"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lotes saíram do estoque de 2019 a 2024</a:t>
            </a:r>
          </a:p>
        </p:txBody>
      </p:sp>
      <p:sp>
        <p:nvSpPr>
          <p:cNvPr id="9" name="TextBox 8"/>
          <p:cNvSpPr txBox="1"/>
          <p:nvPr/>
        </p:nvSpPr>
        <p:spPr>
          <a:xfrm>
            <a:off x="731520"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mais 37 em 2025, fora da conta</a:t>
            </a:r>
          </a:p>
        </p:txBody>
      </p:sp>
      <p:sp>
        <p:nvSpPr>
          <p:cNvPr id="10" name="Rounded Rectangle 9"/>
          <p:cNvSpPr/>
          <p:nvPr/>
        </p:nvSpPr>
        <p:spPr>
          <a:xfrm>
            <a:off x="3364992"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R$ 90,9 mi</a:t>
            </a:r>
          </a:p>
        </p:txBody>
      </p:sp>
      <p:sp>
        <p:nvSpPr>
          <p:cNvPr id="12" name="TextBox 11"/>
          <p:cNvSpPr txBox="1"/>
          <p:nvPr/>
        </p:nvSpPr>
        <p:spPr>
          <a:xfrm>
            <a:off x="3547872"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valem esses lotes no preço do próprio grupo</a:t>
            </a:r>
          </a:p>
        </p:txBody>
      </p:sp>
      <p:sp>
        <p:nvSpPr>
          <p:cNvPr id="13" name="TextBox 12"/>
          <p:cNvSpPr txBox="1"/>
          <p:nvPr/>
        </p:nvSpPr>
        <p:spPr>
          <a:xfrm>
            <a:off x="3547872"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R$ 59,1 mi vendidos em dinheiro</a:t>
            </a:r>
          </a:p>
        </p:txBody>
      </p:sp>
      <p:sp>
        <p:nvSpPr>
          <p:cNvPr id="14" name="Rounded Rectangle 13"/>
          <p:cNvSpPr/>
          <p:nvPr/>
        </p:nvSpPr>
        <p:spPr>
          <a:xfrm>
            <a:off x="6181344"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R$ 29,1 mi</a:t>
            </a:r>
          </a:p>
        </p:txBody>
      </p:sp>
      <p:sp>
        <p:nvSpPr>
          <p:cNvPr id="16" name="TextBox 15"/>
          <p:cNvSpPr txBox="1"/>
          <p:nvPr/>
        </p:nvSpPr>
        <p:spPr>
          <a:xfrm>
            <a:off x="6364224"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explicam os gastos, dívidas e bens comprados</a:t>
            </a:r>
          </a:p>
        </p:txBody>
      </p:sp>
      <p:sp>
        <p:nvSpPr>
          <p:cNvPr id="17" name="TextBox 16"/>
          <p:cNvSpPr txBox="1"/>
          <p:nvPr/>
        </p:nvSpPr>
        <p:spPr>
          <a:xfrm>
            <a:off x="6364224"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72 meses de custo de manter a empresa</a:t>
            </a:r>
          </a:p>
        </p:txBody>
      </p:sp>
      <p:sp>
        <p:nvSpPr>
          <p:cNvPr id="18" name="Rounded Rectangle 17"/>
          <p:cNvSpPr/>
          <p:nvPr/>
        </p:nvSpPr>
        <p:spPr>
          <a:xfrm>
            <a:off x="8997696" y="1508760"/>
            <a:ext cx="2606040" cy="274320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1691640"/>
            <a:ext cx="2286000" cy="822960"/>
          </a:xfrm>
          <a:prstGeom prst="rect">
            <a:avLst/>
          </a:prstGeom>
          <a:noFill/>
        </p:spPr>
        <p:txBody>
          <a:bodyPr wrap="square" anchor="t" lIns="45720" rIns="45720">
            <a:spAutoFit/>
          </a:bodyPr>
          <a:lstStyle/>
          <a:p>
            <a:pPr algn="l">
              <a:spcAft>
                <a:spcPts val="600"/>
              </a:spcAft>
            </a:pPr>
            <a:r>
              <a:rPr sz="3000" b="1" i="0">
                <a:solidFill>
                  <a:srgbClr val="B85A22"/>
                </a:solidFill>
                <a:latin typeface="Cambria"/>
              </a:rPr>
              <a:t>R$ 37,6 mi</a:t>
            </a:r>
          </a:p>
        </p:txBody>
      </p:sp>
      <p:sp>
        <p:nvSpPr>
          <p:cNvPr id="20" name="TextBox 19"/>
          <p:cNvSpPr txBox="1"/>
          <p:nvPr/>
        </p:nvSpPr>
        <p:spPr>
          <a:xfrm>
            <a:off x="9180576"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ficam sem explicação</a:t>
            </a:r>
          </a:p>
        </p:txBody>
      </p:sp>
      <p:sp>
        <p:nvSpPr>
          <p:cNvPr id="21" name="TextBox 20"/>
          <p:cNvSpPr txBox="1"/>
          <p:nvPr/>
        </p:nvSpPr>
        <p:spPr>
          <a:xfrm>
            <a:off x="9180576"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1/6 = R$ 6,3 mi</a:t>
            </a:r>
          </a:p>
        </p:txBody>
      </p:sp>
      <p:sp>
        <p:nvSpPr>
          <p:cNvPr id="22" name="TextBox 21"/>
          <p:cNvSpPr txBox="1"/>
          <p:nvPr/>
        </p:nvSpPr>
        <p:spPr>
          <a:xfrm>
            <a:off x="548640" y="4572000"/>
            <a:ext cx="11064240" cy="1645920"/>
          </a:xfrm>
          <a:prstGeom prst="rect">
            <a:avLst/>
          </a:prstGeom>
          <a:noFill/>
        </p:spPr>
        <p:txBody>
          <a:bodyPr wrap="square" anchor="t" lIns="45720" rIns="45720">
            <a:spAutoFit/>
          </a:bodyPr>
          <a:lstStyle/>
          <a:p>
            <a:pPr algn="l">
              <a:spcAft>
                <a:spcPts val="600"/>
              </a:spcAft>
            </a:pPr>
            <a:r>
              <a:rPr sz="1600" b="0" i="0">
                <a:solidFill>
                  <a:srgbClr val="222B27"/>
                </a:solidFill>
                <a:latin typeface="Calibri"/>
              </a:rPr>
              <a:t>Se a empresa diz que não tem caixa, esse dinheiro foi investido em algo — </a:t>
            </a:r>
            <a:r>
              <a:rPr sz="1600" b="1" i="0">
                <a:solidFill>
                  <a:srgbClr val="222B27"/>
                </a:solidFill>
                <a:latin typeface="Calibri"/>
              </a:rPr>
              <a:t>provavelmente nos loteamentos que o grupo avalia em R$ 0 e dos quais ainda desconta multas.</a:t>
            </a:r>
          </a:p>
          <a:p>
            <a:pPr algn="l">
              <a:spcAft>
                <a:spcPts val="600"/>
              </a:spcAft>
            </a:pPr>
            <a:r>
              <a:rPr sz="1600" b="0" i="0">
                <a:solidFill>
                  <a:srgbClr val="222B27"/>
                </a:solidFill>
                <a:latin typeface="Calibri"/>
              </a:rPr>
              <a:t>Ou o grupo mostra os valores reais e a diferença é recalculada, ou 1/6 do valor sem explicação volta ao sócio que sai.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“R$ 0 + multa” contradiz o próprio grupo em 2018</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inventário 2018 (doc 18); doc 11; Estudo 2 de Rafael; aba GERAL</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3</a:t>
            </a:r>
          </a:p>
        </p:txBody>
      </p:sp>
      <p:sp>
        <p:nvSpPr>
          <p:cNvPr id="6" name="Rounded Rectangle 5"/>
          <p:cNvSpPr/>
          <p:nvPr/>
        </p:nvSpPr>
        <p:spPr>
          <a:xfrm>
            <a:off x="548640" y="1463040"/>
            <a:ext cx="3520440" cy="3291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108960" cy="45720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2018 · o grupo</a:t>
            </a:r>
          </a:p>
        </p:txBody>
      </p:sp>
      <p:sp>
        <p:nvSpPr>
          <p:cNvPr id="8" name="TextBox 7"/>
          <p:cNvSpPr txBox="1"/>
          <p:nvPr/>
        </p:nvSpPr>
        <p:spPr>
          <a:xfrm>
            <a:off x="777240"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Loteamentos em execução: R$ 5,4 mi</a:t>
            </a:r>
          </a:p>
          <a:p>
            <a:pPr algn="l">
              <a:spcAft>
                <a:spcPts val="1000"/>
              </a:spcAft>
            </a:pPr>
            <a:r>
              <a:rPr sz="1500" b="0" i="0">
                <a:solidFill>
                  <a:srgbClr val="222B27"/>
                </a:solidFill>
                <a:latin typeface="Calibri"/>
              </a:rPr>
              <a:t>Contratados: R$ 1,25 mi (R$ 50 mil cada, “investimentos iniciais”)</a:t>
            </a:r>
          </a:p>
          <a:p>
            <a:pPr algn="l">
              <a:spcAft>
                <a:spcPts val="1000"/>
              </a:spcAft>
            </a:pPr>
            <a:r>
              <a:rPr sz="1500" b="0" i="0">
                <a:solidFill>
                  <a:srgbClr val="222B27"/>
                </a:solidFill>
                <a:latin typeface="Calibri"/>
              </a:rPr>
              <a:t>Planilha de investimentos pagos: R$ 10,4 mi</a:t>
            </a:r>
          </a:p>
        </p:txBody>
      </p:sp>
      <p:sp>
        <p:nvSpPr>
          <p:cNvPr id="9" name="Rounded Rectangle 8"/>
          <p:cNvSpPr/>
          <p:nvPr/>
        </p:nvSpPr>
        <p:spPr>
          <a:xfrm>
            <a:off x="4297679" y="1463040"/>
            <a:ext cx="3520440" cy="329184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3108960" cy="457200"/>
          </a:xfrm>
          <a:prstGeom prst="rect">
            <a:avLst/>
          </a:prstGeom>
          <a:noFill/>
        </p:spPr>
        <p:txBody>
          <a:bodyPr wrap="square" anchor="t" lIns="45720" rIns="45720">
            <a:spAutoFit/>
          </a:bodyPr>
          <a:lstStyle/>
          <a:p>
            <a:pPr algn="l">
              <a:spcAft>
                <a:spcPts val="600"/>
              </a:spcAft>
            </a:pPr>
            <a:r>
              <a:rPr sz="2000" b="1" i="0">
                <a:solidFill>
                  <a:srgbClr val="B85A22"/>
                </a:solidFill>
                <a:latin typeface="Cambria"/>
              </a:rPr>
              <a:t>2025 · o grupo</a:t>
            </a:r>
          </a:p>
        </p:txBody>
      </p:sp>
      <p:sp>
        <p:nvSpPr>
          <p:cNvPr id="11" name="TextBox 10"/>
          <p:cNvSpPr txBox="1"/>
          <p:nvPr/>
        </p:nvSpPr>
        <p:spPr>
          <a:xfrm>
            <a:off x="4526279"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Os mesmos loteamentos: R$ 0</a:t>
            </a:r>
          </a:p>
          <a:p>
            <a:pPr algn="l">
              <a:spcAft>
                <a:spcPts val="1000"/>
              </a:spcAft>
            </a:pPr>
            <a:r>
              <a:rPr sz="1500" b="0" i="0">
                <a:solidFill>
                  <a:srgbClr val="222B27"/>
                </a:solidFill>
                <a:latin typeface="Calibri"/>
              </a:rPr>
              <a:t>Multas rescisórias descontadas: −R$ 15,8 mi</a:t>
            </a:r>
          </a:p>
          <a:p>
            <a:pPr algn="l">
              <a:spcAft>
                <a:spcPts val="1000"/>
              </a:spcAft>
            </a:pPr>
            <a:r>
              <a:rPr sz="1500" b="0" i="0">
                <a:solidFill>
                  <a:srgbClr val="222B27"/>
                </a:solidFill>
                <a:latin typeface="Calibri"/>
              </a:rPr>
              <a:t>Nenhum investimento do período aparece</a:t>
            </a:r>
          </a:p>
        </p:txBody>
      </p:sp>
      <p:sp>
        <p:nvSpPr>
          <p:cNvPr id="12" name="Rounded Rectangle 11"/>
          <p:cNvSpPr/>
          <p:nvPr/>
        </p:nvSpPr>
        <p:spPr>
          <a:xfrm>
            <a:off x="8046719" y="1463040"/>
            <a:ext cx="3520440" cy="3291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00200"/>
            <a:ext cx="3108960" cy="457200"/>
          </a:xfrm>
          <a:prstGeom prst="rect">
            <a:avLst/>
          </a:prstGeom>
          <a:noFill/>
        </p:spPr>
        <p:txBody>
          <a:bodyPr wrap="square" anchor="t" lIns="45720" rIns="45720">
            <a:spAutoFit/>
          </a:bodyPr>
          <a:lstStyle/>
          <a:p>
            <a:pPr algn="l">
              <a:spcAft>
                <a:spcPts val="600"/>
              </a:spcAft>
            </a:pPr>
            <a:r>
              <a:rPr sz="2000" b="1" i="0">
                <a:solidFill>
                  <a:srgbClr val="4E7A5E"/>
                </a:solidFill>
                <a:latin typeface="Cambria"/>
              </a:rPr>
              <a:t>2025 · Rafael</a:t>
            </a:r>
          </a:p>
        </p:txBody>
      </p:sp>
      <p:sp>
        <p:nvSpPr>
          <p:cNvPr id="14" name="TextBox 13"/>
          <p:cNvSpPr txBox="1"/>
          <p:nvPr/>
        </p:nvSpPr>
        <p:spPr>
          <a:xfrm>
            <a:off x="8275319"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Áreas contratadas: R$ 18,4 mi</a:t>
            </a:r>
          </a:p>
          <a:p>
            <a:pPr algn="l">
              <a:spcAft>
                <a:spcPts val="1000"/>
              </a:spcAft>
            </a:pPr>
            <a:r>
              <a:rPr sz="1500" b="0" i="0">
                <a:solidFill>
                  <a:srgbClr val="222B27"/>
                </a:solidFill>
                <a:latin typeface="Calibri"/>
              </a:rPr>
              <a:t>Soma valor de lotes executados com multas</a:t>
            </a:r>
          </a:p>
          <a:p>
            <a:pPr algn="l">
              <a:spcAft>
                <a:spcPts val="1000"/>
              </a:spcAft>
            </a:pPr>
            <a:r>
              <a:rPr sz="1500" b="0" i="0">
                <a:solidFill>
                  <a:srgbClr val="222B27"/>
                </a:solidFill>
                <a:latin typeface="Calibri"/>
              </a:rPr>
              <a:t>Contraditório: lote e multa se excluem</a:t>
            </a:r>
          </a:p>
        </p:txBody>
      </p:sp>
      <p:sp>
        <p:nvSpPr>
          <p:cNvPr id="15" name="TextBox 14"/>
          <p:cNvSpPr txBox="1"/>
          <p:nvPr/>
        </p:nvSpPr>
        <p:spPr>
          <a:xfrm>
            <a:off x="548640" y="5029200"/>
            <a:ext cx="11064240" cy="1188720"/>
          </a:xfrm>
          <a:prstGeom prst="rect">
            <a:avLst/>
          </a:prstGeom>
          <a:noFill/>
        </p:spPr>
        <p:txBody>
          <a:bodyPr wrap="square" anchor="t" lIns="45720" rIns="45720">
            <a:spAutoFit/>
          </a:bodyPr>
          <a:lstStyle/>
          <a:p>
            <a:pPr algn="l">
              <a:spcAft>
                <a:spcPts val="600"/>
              </a:spcAft>
            </a:pPr>
            <a:r>
              <a:rPr sz="1600" b="0" i="0">
                <a:solidFill>
                  <a:srgbClr val="222B27"/>
                </a:solidFill>
                <a:latin typeface="Calibri"/>
              </a:rPr>
              <a:t>Em vez de avaliar cada loteamento (não sabemos quanto foi investido em cada um), </a:t>
            </a:r>
            <a:r>
              <a:rPr sz="1600" b="1" i="0">
                <a:solidFill>
                  <a:srgbClr val="222B27"/>
                </a:solidFill>
                <a:latin typeface="Calibri"/>
              </a:rPr>
              <a:t>seguimos o dinheiro: </a:t>
            </a:r>
            <a:r>
              <a:rPr sz="1600" b="0" i="0">
                <a:solidFill>
                  <a:srgbClr val="222B27"/>
                </a:solidFill>
                <a:latin typeface="Calibri"/>
              </a:rPr>
              <a:t>o que entrou com os lotes, o que saiu para manter a empresa e o que sobra.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estoque de lotes perdeu 49% do valor até 2024</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aba 'Lotes que saíram 2018-2025' e arquivo 17; preços de out/2025 do grupo</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4</a:t>
            </a:r>
          </a:p>
        </p:txBody>
      </p:sp>
      <p:graphicFrame>
        <p:nvGraphicFramePr>
          <p:cNvPr id="6" name="Chart 5"/>
          <p:cNvGraphicFramePr>
            <a:graphicFrameLocks noGrp="1"/>
          </p:cNvGraphicFramePr>
          <p:nvPr/>
        </p:nvGraphicFramePr>
        <p:xfrm>
          <a:off x="548640" y="1371600"/>
          <a:ext cx="758952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8412480" y="1463040"/>
            <a:ext cx="320040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41080" y="1645920"/>
            <a:ext cx="2834640" cy="438912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Fim de 2018 (inventário + arquivo 17)</a:t>
            </a:r>
          </a:p>
          <a:p>
            <a:pPr algn="l">
              <a:spcAft>
                <a:spcPts val="800"/>
              </a:spcAft>
            </a:pPr>
            <a:r>
              <a:rPr sz="1500" b="0" i="0">
                <a:solidFill>
                  <a:srgbClr val="222B27"/>
                </a:solidFill>
                <a:latin typeface="Calibri"/>
              </a:rPr>
              <a:t>802 lotes · R$ 242,3 mi</a:t>
            </a:r>
          </a:p>
          <a:p>
            <a:pPr algn="l">
              <a:spcAft>
                <a:spcPts val="800"/>
              </a:spcAft>
            </a:pPr>
            <a:r>
              <a:rPr sz="1500" b="1" i="0">
                <a:solidFill>
                  <a:srgbClr val="1F3A2E"/>
                </a:solidFill>
                <a:latin typeface="Calibri"/>
              </a:rPr>
              <a:t>Fim de 2024 (data-base)</a:t>
            </a:r>
          </a:p>
          <a:p>
            <a:pPr algn="l">
              <a:spcAft>
                <a:spcPts val="800"/>
              </a:spcAft>
            </a:pPr>
            <a:r>
              <a:rPr sz="1500" b="0" i="0">
                <a:solidFill>
                  <a:srgbClr val="222B27"/>
                </a:solidFill>
                <a:latin typeface="Calibri"/>
              </a:rPr>
              <a:t>462 lotes · R$ 124,3 mi</a:t>
            </a:r>
          </a:p>
          <a:p>
            <a:pPr algn="l">
              <a:spcAft>
                <a:spcPts val="800"/>
              </a:spcAft>
            </a:pPr>
            <a:r>
              <a:rPr sz="1500" b="1" i="0">
                <a:solidFill>
                  <a:srgbClr val="1F3A2E"/>
                </a:solidFill>
                <a:latin typeface="Calibri"/>
              </a:rPr>
              <a:t>Out/2025 (doc 11)</a:t>
            </a:r>
          </a:p>
          <a:p>
            <a:pPr algn="l">
              <a:spcAft>
                <a:spcPts val="800"/>
              </a:spcAft>
            </a:pPr>
            <a:r>
              <a:rPr sz="1500" b="0" i="0">
                <a:solidFill>
                  <a:srgbClr val="222B27"/>
                </a:solidFill>
                <a:latin typeface="Calibri"/>
              </a:rPr>
              <a:t>425 lotes · R$ 110,1 mi</a:t>
            </a:r>
          </a:p>
          <a:p>
            <a:pPr algn="l">
              <a:spcAft>
                <a:spcPts val="800"/>
              </a:spcAft>
            </a:pPr>
            <a:r>
              <a:rPr sz="1500" b="1" i="0">
                <a:solidFill>
                  <a:srgbClr val="222B27"/>
                </a:solidFill>
                <a:latin typeface="Calibri"/>
              </a:rPr>
              <a:t>Queda até a data-base: </a:t>
            </a:r>
            <a:r>
              <a:rPr sz="1500" b="1" i="0">
                <a:solidFill>
                  <a:srgbClr val="B85A22"/>
                </a:solidFill>
                <a:latin typeface="Calibri"/>
              </a:rPr>
              <a:t>R$ 118,0 mi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Como saíram os 310 lotes de 2019 a 2024</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arquivo 17 (forma de cada saída), classificado por palavras-chave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5</a:t>
            </a:r>
          </a:p>
        </p:txBody>
      </p:sp>
      <p:graphicFrame>
        <p:nvGraphicFramePr>
          <p:cNvPr id="6" name="Chart 5"/>
          <p:cNvGraphicFramePr>
            <a:graphicFrameLocks noGrp="1"/>
          </p:cNvGraphicFramePr>
          <p:nvPr/>
        </p:nvGraphicFramePr>
        <p:xfrm>
          <a:off x="548640" y="1371600"/>
          <a:ext cx="731520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8138160" y="1463040"/>
            <a:ext cx="347472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66760" y="1645920"/>
            <a:ext cx="3108960" cy="4389120"/>
          </a:xfrm>
          <a:prstGeom prst="rect">
            <a:avLst/>
          </a:prstGeom>
          <a:noFill/>
        </p:spPr>
        <p:txBody>
          <a:bodyPr wrap="square" anchor="t" lIns="45720" rIns="45720">
            <a:spAutoFit/>
          </a:bodyPr>
          <a:lstStyle/>
          <a:p>
            <a:pPr algn="l">
              <a:spcAft>
                <a:spcPts val="700"/>
              </a:spcAft>
            </a:pPr>
            <a:r>
              <a:rPr sz="1500" b="1" i="0">
                <a:solidFill>
                  <a:srgbClr val="1F3A2E"/>
                </a:solidFill>
                <a:latin typeface="Calibri"/>
              </a:rPr>
              <a:t>No preço do grupo:</a:t>
            </a:r>
          </a:p>
          <a:p>
            <a:pPr algn="l">
              <a:spcAft>
                <a:spcPts val="700"/>
              </a:spcAft>
            </a:pPr>
            <a:r>
              <a:rPr sz="1500" b="0" i="0">
                <a:solidFill>
                  <a:srgbClr val="222B27"/>
                </a:solidFill>
                <a:latin typeface="Calibri"/>
              </a:rPr>
              <a:t>Venda em dinheiro: R$ 59,1 mi</a:t>
            </a:r>
          </a:p>
          <a:p>
            <a:pPr algn="l">
              <a:spcAft>
                <a:spcPts val="700"/>
              </a:spcAft>
            </a:pPr>
            <a:r>
              <a:rPr sz="1500" b="0" i="0">
                <a:solidFill>
                  <a:srgbClr val="222B27"/>
                </a:solidFill>
                <a:latin typeface="Calibri"/>
              </a:rPr>
              <a:t>Acordos e distratos: R$ 14,9 mi</a:t>
            </a:r>
          </a:p>
          <a:p>
            <a:pPr algn="l">
              <a:spcAft>
                <a:spcPts val="700"/>
              </a:spcAft>
            </a:pPr>
            <a:r>
              <a:rPr sz="1500" b="0" i="0">
                <a:solidFill>
                  <a:srgbClr val="222B27"/>
                </a:solidFill>
                <a:latin typeface="Calibri"/>
              </a:rPr>
              <a:t>Obras e serviços: R$ 5,3 mi</a:t>
            </a:r>
          </a:p>
          <a:p>
            <a:pPr algn="l">
              <a:spcAft>
                <a:spcPts val="700"/>
              </a:spcAft>
            </a:pPr>
            <a:r>
              <a:rPr sz="1500" b="0" i="0">
                <a:solidFill>
                  <a:srgbClr val="222B27"/>
                </a:solidFill>
                <a:latin typeface="Calibri"/>
              </a:rPr>
              <a:t>Sócios e família: R$ 4,1 mi</a:t>
            </a:r>
          </a:p>
          <a:p>
            <a:pPr algn="l">
              <a:spcAft>
                <a:spcPts val="700"/>
              </a:spcAft>
            </a:pPr>
            <a:r>
              <a:rPr sz="1500" b="0" i="0">
                <a:solidFill>
                  <a:srgbClr val="222B27"/>
                </a:solidFill>
                <a:latin typeface="Calibri"/>
              </a:rPr>
              <a:t>Empréstimos de sócios: R$ 2,4 mi</a:t>
            </a:r>
          </a:p>
          <a:p>
            <a:pPr algn="l">
              <a:spcAft>
                <a:spcPts val="700"/>
              </a:spcAft>
            </a:pPr>
            <a:r>
              <a:rPr sz="1500" b="0" i="0">
                <a:solidFill>
                  <a:srgbClr val="222B27"/>
                </a:solidFill>
                <a:latin typeface="Calibri"/>
              </a:rPr>
              <a:t>Troca por outro lote: R$ 1,7 mi</a:t>
            </a:r>
          </a:p>
          <a:p>
            <a:pPr algn="l">
              <a:spcAft>
                <a:spcPts val="700"/>
              </a:spcAft>
            </a:pPr>
            <a:r>
              <a:rPr sz="1500" b="1" i="0">
                <a:solidFill>
                  <a:srgbClr val="222B27"/>
                </a:solidFill>
                <a:latin typeface="Calibri"/>
              </a:rPr>
              <a:t>Sem destino ou bem sumido: </a:t>
            </a:r>
            <a:r>
              <a:rPr sz="1500" b="1" i="0">
                <a:solidFill>
                  <a:srgbClr val="B85A22"/>
                </a:solidFill>
                <a:latin typeface="Calibri"/>
              </a:rPr>
              <a:t>R$ 3,3 mi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Manter a empresa custa R$ 329 mil por mês</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relatórios mensais de contas pagas, jul/2023 a out/2024 (15 meses), só a SEI; IPCA (IBGE)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6</a:t>
            </a:r>
          </a:p>
        </p:txBody>
      </p:sp>
      <p:graphicFrame>
        <p:nvGraphicFramePr>
          <p:cNvPr id="6" name="Chart 5"/>
          <p:cNvGraphicFramePr>
            <a:graphicFrameLocks noGrp="1"/>
          </p:cNvGraphicFramePr>
          <p:nvPr/>
        </p:nvGraphicFramePr>
        <p:xfrm>
          <a:off x="548640" y="1371600"/>
          <a:ext cx="694944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7772400" y="1463040"/>
            <a:ext cx="384048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645920"/>
            <a:ext cx="3474720" cy="438912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Total pago pela SEI em 15 meses</a:t>
            </a:r>
          </a:p>
          <a:p>
            <a:pPr algn="l">
              <a:spcAft>
                <a:spcPts val="800"/>
              </a:spcAft>
            </a:pPr>
            <a:r>
              <a:rPr sz="1500" b="0" i="0">
                <a:solidFill>
                  <a:srgbClr val="222B27"/>
                </a:solidFill>
                <a:latin typeface="Calibri"/>
              </a:rPr>
              <a:t>R$ 9,88 mi</a:t>
            </a:r>
          </a:p>
          <a:p>
            <a:pPr algn="l">
              <a:spcAft>
                <a:spcPts val="800"/>
              </a:spcAft>
            </a:pPr>
            <a:r>
              <a:rPr sz="1500" b="1" i="0">
                <a:solidFill>
                  <a:srgbClr val="1F3A2E"/>
                </a:solidFill>
                <a:latin typeface="Calibri"/>
              </a:rPr>
              <a:t>Recorrentes</a:t>
            </a:r>
          </a:p>
          <a:p>
            <a:pPr algn="l">
              <a:spcAft>
                <a:spcPts val="800"/>
              </a:spcAft>
            </a:pPr>
            <a:r>
              <a:rPr sz="1500" b="0" i="0">
                <a:solidFill>
                  <a:srgbClr val="222B27"/>
                </a:solidFill>
                <a:latin typeface="Calibri"/>
              </a:rPr>
              <a:t>R$ 4,94 mi ÷ 15 = R$ 329 mil/mês</a:t>
            </a:r>
          </a:p>
          <a:p>
            <a:pPr algn="l">
              <a:spcAft>
                <a:spcPts val="800"/>
              </a:spcAft>
            </a:pPr>
            <a:r>
              <a:rPr sz="1500" b="1" i="0">
                <a:solidFill>
                  <a:srgbClr val="1F3A2E"/>
                </a:solidFill>
                <a:latin typeface="Calibri"/>
              </a:rPr>
              <a:t>Estendido a 2019–2024 com IPCA</a:t>
            </a:r>
          </a:p>
          <a:p>
            <a:pPr algn="l">
              <a:spcAft>
                <a:spcPts val="800"/>
              </a:spcAft>
            </a:pPr>
            <a:r>
              <a:rPr sz="1500" b="0" i="0">
                <a:solidFill>
                  <a:srgbClr val="222B27"/>
                </a:solidFill>
                <a:latin typeface="Calibri"/>
              </a:rPr>
              <a:t>72 meses = R$ 20,9 mi, mais R$ 0,5 mi de multas, acordos e lucros</a:t>
            </a:r>
          </a:p>
          <a:p>
            <a:pPr algn="l">
              <a:spcAft>
                <a:spcPts val="800"/>
              </a:spcAft>
            </a:pPr>
            <a:r>
              <a:rPr sz="1500" b="1" i="0">
                <a:solidFill>
                  <a:srgbClr val="222B27"/>
                </a:solidFill>
                <a:latin typeface="Calibri"/>
              </a:rPr>
              <a:t>Regra aplicada: </a:t>
            </a:r>
            <a:r>
              <a:rPr sz="1500" b="0" i="0">
                <a:solidFill>
                  <a:srgbClr val="222B27"/>
                </a:solidFill>
                <a:latin typeface="Calibri"/>
              </a:rPr>
              <a:t>combustível conta como obra, não como custo fixo.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A conta, passo a passo, no preço do próprio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fluxo-caixa-sei-v0.2.xlsx, aba Ponte (preço = média do grupo de 2025 trazida pelo IPCA)</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7</a:t>
            </a:r>
          </a:p>
        </p:txBody>
      </p:sp>
      <p:graphicFrame>
        <p:nvGraphicFramePr>
          <p:cNvPr id="6" name="Chart 5"/>
          <p:cNvGraphicFramePr>
            <a:graphicFrameLocks noGrp="1"/>
          </p:cNvGraphicFramePr>
          <p:nvPr/>
        </p:nvGraphicFramePr>
        <p:xfrm>
          <a:off x="548640" y="1325880"/>
          <a:ext cx="11064240" cy="4023360"/>
        </p:xfrm>
        <a:graphic>
          <a:graphicData uri="http://schemas.openxmlformats.org/drawingml/2006/chart">
            <c:chart xmlns:c="http://schemas.openxmlformats.org/drawingml/2006/chart" r:id="rId3"/>
          </a:graphicData>
        </a:graphic>
      </p:graphicFrame>
      <p:sp>
        <p:nvSpPr>
          <p:cNvPr id="7" name="TextBox 6"/>
          <p:cNvSpPr txBox="1"/>
          <p:nvPr/>
        </p:nvSpPr>
        <p:spPr>
          <a:xfrm>
            <a:off x="548640" y="5440680"/>
            <a:ext cx="11064240" cy="822960"/>
          </a:xfrm>
          <a:prstGeom prst="rect">
            <a:avLst/>
          </a:prstGeom>
          <a:noFill/>
        </p:spPr>
        <p:txBody>
          <a:bodyPr wrap="square" anchor="t" lIns="45720" rIns="45720">
            <a:spAutoFit/>
          </a:bodyPr>
          <a:lstStyle/>
          <a:p>
            <a:pPr algn="l">
              <a:spcAft>
                <a:spcPts val="600"/>
              </a:spcAft>
            </a:pPr>
            <a:r>
              <a:rPr sz="1500" b="0" i="0">
                <a:solidFill>
                  <a:srgbClr val="5E6A64"/>
                </a:solidFill>
                <a:latin typeface="Calibri"/>
              </a:rPr>
              <a:t>R$ milhões. </a:t>
            </a:r>
            <a:r>
              <a:rPr sz="1500" b="1" i="0">
                <a:solidFill>
                  <a:srgbClr val="222B27"/>
                </a:solidFill>
                <a:latin typeface="Calibri"/>
              </a:rPr>
              <a:t>Resultado: </a:t>
            </a:r>
            <a:r>
              <a:rPr sz="1500" b="1" i="0">
                <a:solidFill>
                  <a:srgbClr val="B85A22"/>
                </a:solidFill>
                <a:latin typeface="Calibri"/>
              </a:rPr>
              <a:t>R$ 37,6 mi</a:t>
            </a:r>
            <a:r>
              <a:rPr sz="1500" b="0" i="0">
                <a:solidFill>
                  <a:srgbClr val="222B27"/>
                </a:solidFill>
                <a:latin typeface="Calibri"/>
              </a:rPr>
              <a:t> sem explicação · 1/6 = R$ 6,3 mi · somando os lotes dados em obras e em loteamentos contratados, investimento a demonstrar de R$ 52,2 mi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Os impostos pagos confirmam o preço do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aba Teste de receita (PIS, COFINS e comissões dos 15 meses) e aba Sensibilidade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8</a:t>
            </a:r>
          </a:p>
        </p:txBody>
      </p:sp>
      <p:graphicFrame>
        <p:nvGraphicFramePr>
          <p:cNvPr id="6" name="Chart 5"/>
          <p:cNvGraphicFramePr>
            <a:graphicFrameLocks noGrp="1"/>
          </p:cNvGraphicFramePr>
          <p:nvPr/>
        </p:nvGraphicFramePr>
        <p:xfrm>
          <a:off x="548640" y="1371600"/>
          <a:ext cx="6400800" cy="3108960"/>
        </p:xfrm>
        <a:graphic>
          <a:graphicData uri="http://schemas.openxmlformats.org/drawingml/2006/chart">
            <c:chart xmlns:c="http://schemas.openxmlformats.org/drawingml/2006/chart" r:id="rId3"/>
          </a:graphicData>
        </a:graphic>
      </p:graphicFrame>
      <p:graphicFrame>
        <p:nvGraphicFramePr>
          <p:cNvPr id="7" name="Table 6"/>
          <p:cNvGraphicFramePr>
            <a:graphicFrameLocks noGrp="1"/>
          </p:cNvGraphicFramePr>
          <p:nvPr/>
        </p:nvGraphicFramePr>
        <p:xfrm>
          <a:off x="7223760" y="1463040"/>
          <a:ext cx="4434840" cy="1828800"/>
        </p:xfrm>
        <a:graphic>
          <a:graphicData uri="http://schemas.openxmlformats.org/drawingml/2006/table">
            <a:tbl>
              <a:tblPr firstRow="1" bandRow="1">
                <a:tableStyleId>{5C22544A-7EE6-4342-B048-85BDC9FD1C3A}</a:tableStyleId>
              </a:tblPr>
              <a:tblGrid>
                <a:gridCol w="1965960"/>
                <a:gridCol w="1463040"/>
                <a:gridCol w="1005840"/>
              </a:tblGrid>
              <a:tr h="457200">
                <a:tc>
                  <a:txBody>
                    <a:bodyPr/>
                    <a:lstStyle/>
                    <a:p>
                      <a:pPr algn="l"/>
                      <a:r>
                        <a:rPr sz="1300" b="1">
                          <a:solidFill>
                            <a:srgbClr val="FFFFFF"/>
                          </a:solidFill>
                          <a:latin typeface="Calibri"/>
                        </a:rPr>
                        <a:t>Preço dos lotes</a:t>
                      </a:r>
                    </a:p>
                  </a:txBody>
                  <a:tcPr marL="73152" marR="73152" anchor="ctr">
                    <a:solidFill>
                      <a:srgbClr val="1F3A2E"/>
                    </a:solidFill>
                  </a:tcPr>
                </a:tc>
                <a:tc>
                  <a:txBody>
                    <a:bodyPr/>
                    <a:lstStyle/>
                    <a:p>
                      <a:pPr algn="r"/>
                      <a:r>
                        <a:rPr sz="1300" b="1">
                          <a:solidFill>
                            <a:srgbClr val="FFFFFF"/>
                          </a:solidFill>
                          <a:latin typeface="Calibri"/>
                        </a:rPr>
                        <a:t>Sem explicação</a:t>
                      </a:r>
                    </a:p>
                  </a:txBody>
                  <a:tcPr marL="73152" marR="73152" anchor="ctr">
                    <a:solidFill>
                      <a:srgbClr val="1F3A2E"/>
                    </a:solidFill>
                  </a:tcPr>
                </a:tc>
                <a:tc>
                  <a:txBody>
                    <a:bodyPr/>
                    <a:lstStyle/>
                    <a:p>
                      <a:pPr algn="r"/>
                      <a:r>
                        <a:rPr sz="1300" b="1">
                          <a:solidFill>
                            <a:srgbClr val="FFFFFF"/>
                          </a:solidFill>
                          <a:latin typeface="Calibri"/>
                        </a:rPr>
                        <a:t>1/6</a:t>
                      </a:r>
                    </a:p>
                  </a:txBody>
                  <a:tcPr marL="73152" marR="73152" anchor="ctr">
                    <a:solidFill>
                      <a:srgbClr val="1F3A2E"/>
                    </a:solidFill>
                  </a:tcPr>
                </a:tc>
              </a:tr>
              <a:tr h="457200">
                <a:tc>
                  <a:txBody>
                    <a:bodyPr/>
                    <a:lstStyle/>
                    <a:p>
                      <a:pPr algn="l"/>
                      <a:r>
                        <a:rPr sz="1300" b="0">
                          <a:solidFill>
                            <a:srgbClr val="222B27"/>
                          </a:solidFill>
                          <a:latin typeface="Calibri"/>
                        </a:rPr>
                        <a:t>Valor de 2018</a:t>
                      </a:r>
                    </a:p>
                  </a:txBody>
                  <a:tcPr marL="73152" marR="73152" anchor="ctr">
                    <a:solidFill>
                      <a:srgbClr val="FFFFFF"/>
                    </a:solidFill>
                  </a:tcPr>
                </a:tc>
                <a:tc>
                  <a:txBody>
                    <a:bodyPr/>
                    <a:lstStyle/>
                    <a:p>
                      <a:pPr algn="r"/>
                      <a:r>
                        <a:rPr sz="1300" b="0">
                          <a:solidFill>
                            <a:srgbClr val="222B27"/>
                          </a:solidFill>
                          <a:latin typeface="Calibri"/>
                        </a:rPr>
                        <a:t>R$ 2,0 mi</a:t>
                      </a:r>
                    </a:p>
                  </a:txBody>
                  <a:tcPr marL="73152" marR="73152" anchor="ctr">
                    <a:solidFill>
                      <a:srgbClr val="FFFFFF"/>
                    </a:solidFill>
                  </a:tcPr>
                </a:tc>
                <a:tc>
                  <a:txBody>
                    <a:bodyPr/>
                    <a:lstStyle/>
                    <a:p>
                      <a:pPr algn="r"/>
                      <a:r>
                        <a:rPr sz="1300" b="0">
                          <a:solidFill>
                            <a:srgbClr val="222B27"/>
                          </a:solidFill>
                          <a:latin typeface="Calibri"/>
                        </a:rPr>
                        <a:t>R$ 0,3 mi</a:t>
                      </a:r>
                    </a:p>
                  </a:txBody>
                  <a:tcPr marL="73152" marR="73152" anchor="ctr">
                    <a:solidFill>
                      <a:srgbClr val="FFFFFF"/>
                    </a:solidFill>
                  </a:tcPr>
                </a:tc>
              </a:tr>
              <a:tr h="457200">
                <a:tc>
                  <a:txBody>
                    <a:bodyPr/>
                    <a:lstStyle/>
                    <a:p>
                      <a:pPr algn="l"/>
                      <a:r>
                        <a:rPr sz="1300" b="0">
                          <a:solidFill>
                            <a:srgbClr val="222B27"/>
                          </a:solidFill>
                          <a:latin typeface="Calibri"/>
                        </a:rPr>
                        <a:t>Intermediário</a:t>
                      </a:r>
                    </a:p>
                  </a:txBody>
                  <a:tcPr marL="73152" marR="73152" anchor="ctr">
                    <a:solidFill>
                      <a:srgbClr val="FFFFFF"/>
                    </a:solidFill>
                  </a:tcPr>
                </a:tc>
                <a:tc>
                  <a:txBody>
                    <a:bodyPr/>
                    <a:lstStyle/>
                    <a:p>
                      <a:pPr algn="r"/>
                      <a:r>
                        <a:rPr sz="1300" b="0">
                          <a:solidFill>
                            <a:srgbClr val="222B27"/>
                          </a:solidFill>
                          <a:latin typeface="Calibri"/>
                        </a:rPr>
                        <a:t>R$ 23,2 mi</a:t>
                      </a:r>
                    </a:p>
                  </a:txBody>
                  <a:tcPr marL="73152" marR="73152" anchor="ctr">
                    <a:solidFill>
                      <a:srgbClr val="FFFFFF"/>
                    </a:solidFill>
                  </a:tcPr>
                </a:tc>
                <a:tc>
                  <a:txBody>
                    <a:bodyPr/>
                    <a:lstStyle/>
                    <a:p>
                      <a:pPr algn="r"/>
                      <a:r>
                        <a:rPr sz="1300" b="0">
                          <a:solidFill>
                            <a:srgbClr val="222B27"/>
                          </a:solidFill>
                          <a:latin typeface="Calibri"/>
                        </a:rPr>
                        <a:t>R$ 3,9 mi</a:t>
                      </a:r>
                    </a:p>
                  </a:txBody>
                  <a:tcPr marL="73152" marR="73152" anchor="ctr">
                    <a:solidFill>
                      <a:srgbClr val="FFFFFF"/>
                    </a:solidFill>
                  </a:tcPr>
                </a:tc>
              </a:tr>
              <a:tr h="457200">
                <a:tc>
                  <a:txBody>
                    <a:bodyPr/>
                    <a:lstStyle/>
                    <a:p>
                      <a:pPr algn="l"/>
                      <a:r>
                        <a:rPr sz="1300" b="1">
                          <a:solidFill>
                            <a:srgbClr val="222B27"/>
                          </a:solidFill>
                          <a:latin typeface="Calibri"/>
                        </a:rPr>
                        <a:t>Média do grupo 2025</a:t>
                      </a:r>
                    </a:p>
                  </a:txBody>
                  <a:tcPr marL="73152" marR="73152" anchor="ctr">
                    <a:solidFill>
                      <a:srgbClr val="ECF1ED"/>
                    </a:solidFill>
                  </a:tcPr>
                </a:tc>
                <a:tc>
                  <a:txBody>
                    <a:bodyPr/>
                    <a:lstStyle/>
                    <a:p>
                      <a:pPr algn="r"/>
                      <a:r>
                        <a:rPr sz="1300" b="1">
                          <a:solidFill>
                            <a:srgbClr val="222B27"/>
                          </a:solidFill>
                          <a:latin typeface="Calibri"/>
                        </a:rPr>
                        <a:t>R$ 37,6 mi</a:t>
                      </a:r>
                    </a:p>
                  </a:txBody>
                  <a:tcPr marL="73152" marR="73152" anchor="ctr">
                    <a:solidFill>
                      <a:srgbClr val="ECF1ED"/>
                    </a:solidFill>
                  </a:tcPr>
                </a:tc>
                <a:tc>
                  <a:txBody>
                    <a:bodyPr/>
                    <a:lstStyle/>
                    <a:p>
                      <a:pPr algn="r"/>
                      <a:r>
                        <a:rPr sz="1300" b="1">
                          <a:solidFill>
                            <a:srgbClr val="222B27"/>
                          </a:solidFill>
                          <a:latin typeface="Calibri"/>
                        </a:rPr>
                        <a:t>R$ 6,3 mi</a:t>
                      </a:r>
                    </a:p>
                  </a:txBody>
                  <a:tcPr marL="73152" marR="73152" anchor="ctr">
                    <a:solidFill>
                      <a:srgbClr val="ECF1ED"/>
                    </a:solidFill>
                  </a:tcPr>
                </a:tc>
              </a:tr>
            </a:tbl>
          </a:graphicData>
        </a:graphic>
      </p:graphicFrame>
      <p:sp>
        <p:nvSpPr>
          <p:cNvPr id="8" name="TextBox 7"/>
          <p:cNvSpPr txBox="1"/>
          <p:nvPr/>
        </p:nvSpPr>
        <p:spPr>
          <a:xfrm>
            <a:off x="548640" y="4617720"/>
            <a:ext cx="11064240" cy="1737360"/>
          </a:xfrm>
          <a:prstGeom prst="rect">
            <a:avLst/>
          </a:prstGeom>
          <a:noFill/>
        </p:spPr>
        <p:txBody>
          <a:bodyPr wrap="square" anchor="t" lIns="45720" rIns="45720">
            <a:spAutoFit/>
          </a:bodyPr>
          <a:lstStyle/>
          <a:p>
            <a:pPr algn="l">
              <a:spcAft>
                <a:spcPts val="600"/>
              </a:spcAft>
            </a:pPr>
            <a:r>
              <a:rPr sz="1400" b="0" i="0">
                <a:solidFill>
                  <a:srgbClr val="5E6A64"/>
                </a:solidFill>
                <a:latin typeface="Calibri"/>
              </a:rPr>
              <a:t>Jun/2023 a set/2024, R$ milhões. </a:t>
            </a:r>
            <a:r>
              <a:rPr sz="1400" b="1" i="0">
                <a:solidFill>
                  <a:srgbClr val="1F3A2E"/>
                </a:solidFill>
                <a:latin typeface="Calibri"/>
              </a:rPr>
              <a:t>O que muda o número, no preço do grupo:</a:t>
            </a:r>
          </a:p>
          <a:p>
            <a:pPr algn="l">
              <a:spcAft>
                <a:spcPts val="600"/>
              </a:spcAft>
            </a:pPr>
            <a:r>
              <a:rPr sz="1400" b="0" i="0">
                <a:solidFill>
                  <a:srgbClr val="222B27"/>
                </a:solidFill>
                <a:latin typeface="Calibri"/>
              </a:rPr>
              <a:t>Preço de 2025 sem descontar a inflação: R$ 49,4 mi. Contar também 2018: R$ 43,0 mi. Aceitar a concessão máxima para concluir Falavigna e Colina do Retiro II: R$ 30,5 mi.</a:t>
            </a:r>
          </a:p>
          <a:p>
            <a:pPr algn="l">
              <a:spcAft>
                <a:spcPts val="600"/>
              </a:spcAft>
            </a:pPr>
            <a:r>
              <a:rPr sz="1400" b="0" i="0">
                <a:solidFill>
                  <a:srgbClr val="222B27"/>
                </a:solidFill>
                <a:latin typeface="Calibri"/>
              </a:rPr>
              <a:t>A conta já inclui os 26 lotes que o arquivo 17 lista além da redução do inventário (o próprio arquivo 17 declara essas quantidades em 2018; decisão de 28/10).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Outras entradas, mostradas à parte</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inventário 2018 (aluguéis); docx do Hotel; relatórios mensais; contratos Lorenzet</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9</a:t>
            </a:r>
          </a:p>
        </p:txBody>
      </p:sp>
      <p:sp>
        <p:nvSpPr>
          <p:cNvPr id="6" name="Oval 5"/>
          <p:cNvSpPr/>
          <p:nvPr/>
        </p:nvSpPr>
        <p:spPr>
          <a:xfrm>
            <a:off x="640080" y="15544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7" name="TextBox 6"/>
          <p:cNvSpPr txBox="1"/>
          <p:nvPr/>
        </p:nvSpPr>
        <p:spPr>
          <a:xfrm>
            <a:off x="1371600" y="146304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Aluguéis da SEI</a:t>
            </a:r>
          </a:p>
        </p:txBody>
      </p:sp>
      <p:sp>
        <p:nvSpPr>
          <p:cNvPr id="8" name="TextBox 7"/>
          <p:cNvSpPr txBox="1"/>
          <p:nvPr/>
        </p:nvSpPr>
        <p:spPr>
          <a:xfrm>
            <a:off x="1371600" y="187452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R$ 35 mil/mês na relação de 2018 = R$ 3,0 mi em 72 meses. Entram na conta.</a:t>
            </a:r>
          </a:p>
        </p:txBody>
      </p:sp>
      <p:sp>
        <p:nvSpPr>
          <p:cNvPr id="9" name="Oval 8"/>
          <p:cNvSpPr/>
          <p:nvPr/>
        </p:nvSpPr>
        <p:spPr>
          <a:xfrm>
            <a:off x="640080" y="2743200"/>
            <a:ext cx="502920" cy="502920"/>
          </a:xfrm>
          <a:prstGeom prst="ellipse">
            <a:avLst/>
          </a:prstGeom>
          <a:solidFill>
            <a:srgbClr val="4E7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0" name="TextBox 9"/>
          <p:cNvSpPr txBox="1"/>
          <p:nvPr/>
        </p:nvSpPr>
        <p:spPr>
          <a:xfrm>
            <a:off x="1371600" y="265176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Venda de terras da São Crispin (2018)</a:t>
            </a:r>
          </a:p>
        </p:txBody>
      </p:sp>
      <p:sp>
        <p:nvSpPr>
          <p:cNvPr id="11" name="TextBox 10"/>
          <p:cNvSpPr txBox="1"/>
          <p:nvPr/>
        </p:nvSpPr>
        <p:spPr>
          <a:xfrm>
            <a:off x="1371600" y="306324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Rigo: R$ 9,4 mi em 118.100 sacas de soja, 20.150 por ano até 2022. Pellegrini: R$ 2,1 mi. Não somadas: são do Hotel/São Crispin.</a:t>
            </a:r>
          </a:p>
        </p:txBody>
      </p:sp>
      <p:sp>
        <p:nvSpPr>
          <p:cNvPr id="12" name="Oval 11"/>
          <p:cNvSpPr/>
          <p:nvPr/>
        </p:nvSpPr>
        <p:spPr>
          <a:xfrm>
            <a:off x="640080" y="3931920"/>
            <a:ext cx="502920" cy="502920"/>
          </a:xfrm>
          <a:prstGeom prst="ellipse">
            <a:avLst/>
          </a:prstGeom>
          <a:solidFill>
            <a:srgbClr val="4E7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3" name="TextBox 12"/>
          <p:cNvSpPr txBox="1"/>
          <p:nvPr/>
        </p:nvSpPr>
        <p:spPr>
          <a:xfrm>
            <a:off x="1371600" y="384048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Arrendamento da São Crispin e serviços</a:t>
            </a:r>
          </a:p>
        </p:txBody>
      </p:sp>
      <p:sp>
        <p:nvSpPr>
          <p:cNvPr id="14" name="TextBox 13"/>
          <p:cNvSpPr txBox="1"/>
          <p:nvPr/>
        </p:nvSpPr>
        <p:spPr>
          <a:xfrm>
            <a:off x="1371600" y="425196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Família Lorenzet, pago em sacas de soja (2017–2026). A SEI também emite notas de serviço (CERAN, CEVAL). Não somados.</a:t>
            </a:r>
          </a:p>
        </p:txBody>
      </p:sp>
      <p:sp>
        <p:nvSpPr>
          <p:cNvPr id="15" name="Oval 14"/>
          <p:cNvSpPr/>
          <p:nvPr/>
        </p:nvSpPr>
        <p:spPr>
          <a:xfrm>
            <a:off x="640080" y="5120640"/>
            <a:ext cx="502920" cy="502920"/>
          </a:xfrm>
          <a:prstGeom prst="ellipse">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16" name="TextBox 15"/>
          <p:cNvSpPr txBox="1"/>
          <p:nvPr/>
        </p:nvSpPr>
        <p:spPr>
          <a:xfrm>
            <a:off x="1371600" y="502920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Soja e contas a receber</a:t>
            </a:r>
          </a:p>
        </p:txBody>
      </p:sp>
      <p:sp>
        <p:nvSpPr>
          <p:cNvPr id="17" name="TextBox 16"/>
          <p:cNvSpPr txBox="1"/>
          <p:nvPr/>
        </p:nvSpPr>
        <p:spPr>
          <a:xfrm>
            <a:off x="1371600" y="544068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A SEI paga Funrural e IRPJ da São Crispin sobre soja e usa sacas para comprar a escavadeira. Vendas a prazo deixam saldo a receber que nenhum inventário mostra.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Contratos | Indenizações | Compromissos | Empréstimos</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aba GERAL (Siviero = doc 11, Rafael = Estudo 2); proposta desta versão</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10</a:t>
            </a:r>
          </a:p>
        </p:txBody>
      </p:sp>
      <p:graphicFrame>
        <p:nvGraphicFramePr>
          <p:cNvPr id="6" name="Table 5"/>
          <p:cNvGraphicFramePr>
            <a:graphicFrameLocks noGrp="1"/>
          </p:cNvGraphicFramePr>
          <p:nvPr/>
        </p:nvGraphicFramePr>
        <p:xfrm>
          <a:off x="548640" y="1371600"/>
          <a:ext cx="10332720" cy="3657600"/>
        </p:xfrm>
        <a:graphic>
          <a:graphicData uri="http://schemas.openxmlformats.org/drawingml/2006/table">
            <a:tbl>
              <a:tblPr firstRow="1" bandRow="1">
                <a:tableStyleId>{5C22544A-7EE6-4342-B048-85BDC9FD1C3A}</a:tableStyleId>
              </a:tblPr>
              <a:tblGrid>
                <a:gridCol w="4572000"/>
                <a:gridCol w="1920240"/>
                <a:gridCol w="1920240"/>
                <a:gridCol w="1920240"/>
              </a:tblGrid>
              <a:tr h="457200">
                <a:tc>
                  <a:txBody>
                    <a:bodyPr/>
                    <a:lstStyle/>
                    <a:p>
                      <a:pPr algn="l"/>
                      <a:r>
                        <a:rPr sz="1400" b="1">
                          <a:solidFill>
                            <a:srgbClr val="FFFFFF"/>
                          </a:solidFill>
                          <a:latin typeface="Calibri"/>
                        </a:rPr>
                        <a:t>Item</a:t>
                      </a:r>
                    </a:p>
                  </a:txBody>
                  <a:tcPr marL="73152" marR="73152" anchor="ctr">
                    <a:solidFill>
                      <a:srgbClr val="1F3A2E"/>
                    </a:solidFill>
                  </a:tcPr>
                </a:tc>
                <a:tc>
                  <a:txBody>
                    <a:bodyPr/>
                    <a:lstStyle/>
                    <a:p>
                      <a:pPr algn="r"/>
                      <a:r>
                        <a:rPr sz="1400" b="1">
                          <a:solidFill>
                            <a:srgbClr val="FFFFFF"/>
                          </a:solidFill>
                          <a:latin typeface="Calibri"/>
                        </a:rPr>
                        <a:t>Siviero</a:t>
                      </a:r>
                    </a:p>
                  </a:txBody>
                  <a:tcPr marL="73152" marR="73152" anchor="ctr">
                    <a:solidFill>
                      <a:srgbClr val="1F3A2E"/>
                    </a:solidFill>
                  </a:tcPr>
                </a:tc>
                <a:tc>
                  <a:txBody>
                    <a:bodyPr/>
                    <a:lstStyle/>
                    <a:p>
                      <a:pPr algn="r"/>
                      <a:r>
                        <a:rPr sz="1400" b="1">
                          <a:solidFill>
                            <a:srgbClr val="FFFFFF"/>
                          </a:solidFill>
                          <a:latin typeface="Calibri"/>
                        </a:rPr>
                        <a:t>Rafael</a:t>
                      </a:r>
                    </a:p>
                  </a:txBody>
                  <a:tcPr marL="73152" marR="73152" anchor="ctr">
                    <a:solidFill>
                      <a:srgbClr val="1F3A2E"/>
                    </a:solidFill>
                  </a:tcPr>
                </a:tc>
                <a:tc>
                  <a:txBody>
                    <a:bodyPr/>
                    <a:lstStyle/>
                    <a:p>
                      <a:pPr algn="r"/>
                      <a:r>
                        <a:rPr sz="1400" b="1">
                          <a:solidFill>
                            <a:srgbClr val="FFFFFF"/>
                          </a:solidFill>
                          <a:latin typeface="Calibri"/>
                        </a:rPr>
                        <a:t>Proposta</a:t>
                      </a:r>
                    </a:p>
                  </a:txBody>
                  <a:tcPr marL="73152" marR="73152" anchor="ctr">
                    <a:solidFill>
                      <a:srgbClr val="1F3A2E"/>
                    </a:solidFill>
                  </a:tcPr>
                </a:tc>
              </a:tr>
              <a:tr h="457200">
                <a:tc>
                  <a:txBody>
                    <a:bodyPr/>
                    <a:lstStyle/>
                    <a:p>
                      <a:pPr algn="l"/>
                      <a:r>
                        <a:rPr sz="1400" b="0">
                          <a:solidFill>
                            <a:srgbClr val="222B27"/>
                          </a:solidFill>
                          <a:latin typeface="Calibri"/>
                        </a:rPr>
                        <a:t>11.2.1 Loteamentos contratados (multas)</a:t>
                      </a:r>
                    </a:p>
                  </a:txBody>
                  <a:tcPr marL="73152" marR="73152" anchor="ctr">
                    <a:solidFill>
                      <a:srgbClr val="FAEEE6"/>
                    </a:solidFill>
                  </a:tcPr>
                </a:tc>
                <a:tc>
                  <a:txBody>
                    <a:bodyPr/>
                    <a:lstStyle/>
                    <a:p>
                      <a:pPr algn="r"/>
                      <a:r>
                        <a:rPr sz="1400" b="0">
                          <a:solidFill>
                            <a:srgbClr val="222B27"/>
                          </a:solidFill>
                          <a:latin typeface="Calibri"/>
                        </a:rPr>
                        <a:t>−R$ 15,8 mi</a:t>
                      </a:r>
                    </a:p>
                  </a:txBody>
                  <a:tcPr marL="73152" marR="73152" anchor="ctr">
                    <a:solidFill>
                      <a:srgbClr val="FAEEE6"/>
                    </a:solidFill>
                  </a:tcPr>
                </a:tc>
                <a:tc>
                  <a:txBody>
                    <a:bodyPr/>
                    <a:lstStyle/>
                    <a:p>
                      <a:pPr algn="r"/>
                      <a:r>
                        <a:rPr sz="1400" b="0">
                          <a:solidFill>
                            <a:srgbClr val="222B27"/>
                          </a:solidFill>
                          <a:latin typeface="Calibri"/>
                        </a:rPr>
                        <a:t>R$ 18,4 mi</a:t>
                      </a:r>
                    </a:p>
                  </a:txBody>
                  <a:tcPr marL="73152" marR="73152" anchor="ctr">
                    <a:solidFill>
                      <a:srgbClr val="FAEEE6"/>
                    </a:solidFill>
                  </a:tcPr>
                </a:tc>
                <a:tc>
                  <a:txBody>
                    <a:bodyPr/>
                    <a:lstStyle/>
                    <a:p>
                      <a:pPr algn="r"/>
                      <a:r>
                        <a:rPr sz="1400" b="0">
                          <a:solidFill>
                            <a:srgbClr val="222B27"/>
                          </a:solidFill>
                          <a:latin typeface="Calibri"/>
                        </a:rPr>
                        <a:t>R$ 0,0 mi</a:t>
                      </a:r>
                    </a:p>
                  </a:txBody>
                  <a:tcPr marL="73152" marR="73152" anchor="ctr">
                    <a:solidFill>
                      <a:srgbClr val="FAEEE6"/>
                    </a:solidFill>
                  </a:tcPr>
                </a:tc>
              </a:tr>
              <a:tr h="457200">
                <a:tc>
                  <a:txBody>
                    <a:bodyPr/>
                    <a:lstStyle/>
                    <a:p>
                      <a:pPr algn="l"/>
                      <a:r>
                        <a:rPr sz="1400" b="0">
                          <a:solidFill>
                            <a:srgbClr val="222B27"/>
                          </a:solidFill>
                          <a:latin typeface="Calibri"/>
                        </a:rPr>
                        <a:t>11.2.2 Lotes de terceiros indenizáveis</a:t>
                      </a:r>
                    </a:p>
                  </a:txBody>
                  <a:tcPr marL="73152" marR="73152" anchor="ctr">
                    <a:solidFill>
                      <a:srgbClr val="FFFFFF"/>
                    </a:solidFill>
                  </a:tcPr>
                </a:tc>
                <a:tc>
                  <a:txBody>
                    <a:bodyPr/>
                    <a:lstStyle/>
                    <a:p>
                      <a:pPr algn="r"/>
                      <a:r>
                        <a:rPr sz="1400" b="0">
                          <a:solidFill>
                            <a:srgbClr val="222B27"/>
                          </a:solidFill>
                          <a:latin typeface="Calibri"/>
                        </a:rPr>
                        <a:t>−R$ 16,2 mi</a:t>
                      </a:r>
                    </a:p>
                  </a:txBody>
                  <a:tcPr marL="73152" marR="73152" anchor="ctr">
                    <a:solidFill>
                      <a:srgbClr val="FFFFFF"/>
                    </a:solidFill>
                  </a:tcPr>
                </a:tc>
                <a:tc>
                  <a:txBody>
                    <a:bodyPr/>
                    <a:lstStyle/>
                    <a:p>
                      <a:pPr algn="r"/>
                      <a:r>
                        <a:rPr sz="1400" b="0">
                          <a:solidFill>
                            <a:srgbClr val="222B27"/>
                          </a:solidFill>
                          <a:latin typeface="Calibri"/>
                        </a:rPr>
                        <a:t>−R$ 16,2 mi</a:t>
                      </a:r>
                    </a:p>
                  </a:txBody>
                  <a:tcPr marL="73152" marR="73152" anchor="ctr">
                    <a:solidFill>
                      <a:srgbClr val="FFFFFF"/>
                    </a:solidFill>
                  </a:tcPr>
                </a:tc>
                <a:tc>
                  <a:txBody>
                    <a:bodyPr/>
                    <a:lstStyle/>
                    <a:p>
                      <a:pPr algn="r"/>
                      <a:r>
                        <a:rPr sz="1400" b="0">
                          <a:solidFill>
                            <a:srgbClr val="222B27"/>
                          </a:solidFill>
                          <a:latin typeface="Calibri"/>
                        </a:rPr>
                        <a:t>−R$ 14,4 mi</a:t>
                      </a:r>
                    </a:p>
                  </a:txBody>
                  <a:tcPr marL="73152" marR="73152" anchor="ctr">
                    <a:solidFill>
                      <a:srgbClr val="FFFFFF"/>
                    </a:solidFill>
                  </a:tcPr>
                </a:tc>
              </a:tr>
              <a:tr h="457200">
                <a:tc>
                  <a:txBody>
                    <a:bodyPr/>
                    <a:lstStyle/>
                    <a:p>
                      <a:pPr algn="l"/>
                      <a:r>
                        <a:rPr sz="1400" b="0">
                          <a:solidFill>
                            <a:srgbClr val="222B27"/>
                          </a:solidFill>
                          <a:latin typeface="Calibri"/>
                        </a:rPr>
                        <a:t>11.2.3 Obras finais a pagar</a:t>
                      </a:r>
                    </a:p>
                  </a:txBody>
                  <a:tcPr marL="73152" marR="73152" anchor="ctr">
                    <a:solidFill>
                      <a:srgbClr val="FFFFFF"/>
                    </a:solidFill>
                  </a:tcPr>
                </a:tc>
                <a:tc>
                  <a:txBody>
                    <a:bodyPr/>
                    <a:lstStyle/>
                    <a:p>
                      <a:pPr algn="r"/>
                      <a:r>
                        <a:rPr sz="1400" b="0">
                          <a:solidFill>
                            <a:srgbClr val="222B27"/>
                          </a:solidFill>
                          <a:latin typeface="Calibri"/>
                        </a:rPr>
                        <a:t>−R$ 3,8 mi</a:t>
                      </a:r>
                    </a:p>
                  </a:txBody>
                  <a:tcPr marL="73152" marR="73152" anchor="ctr">
                    <a:solidFill>
                      <a:srgbClr val="FFFFFF"/>
                    </a:solidFill>
                  </a:tcPr>
                </a:tc>
                <a:tc>
                  <a:txBody>
                    <a:bodyPr/>
                    <a:lstStyle/>
                    <a:p>
                      <a:pPr algn="r"/>
                      <a:r>
                        <a:rPr sz="1400" b="0">
                          <a:solidFill>
                            <a:srgbClr val="222B27"/>
                          </a:solidFill>
                          <a:latin typeface="Calibri"/>
                        </a:rPr>
                        <a:t>−R$ 3,8 mi</a:t>
                      </a:r>
                    </a:p>
                  </a:txBody>
                  <a:tcPr marL="73152" marR="73152" anchor="ctr">
                    <a:solidFill>
                      <a:srgbClr val="FFFFFF"/>
                    </a:solidFill>
                  </a:tcPr>
                </a:tc>
                <a:tc>
                  <a:txBody>
                    <a:bodyPr/>
                    <a:lstStyle/>
                    <a:p>
                      <a:pPr algn="r"/>
                      <a:r>
                        <a:rPr sz="1400" b="0">
                          <a:solidFill>
                            <a:srgbClr val="222B27"/>
                          </a:solidFill>
                          <a:latin typeface="Calibri"/>
                        </a:rPr>
                        <a:t>−R$ 3,6 mi</a:t>
                      </a:r>
                    </a:p>
                  </a:txBody>
                  <a:tcPr marL="73152" marR="73152" anchor="ctr">
                    <a:solidFill>
                      <a:srgbClr val="FFFFFF"/>
                    </a:solidFill>
                  </a:tcPr>
                </a:tc>
              </a:tr>
              <a:tr h="457200">
                <a:tc>
                  <a:txBody>
                    <a:bodyPr/>
                    <a:lstStyle/>
                    <a:p>
                      <a:pPr algn="l"/>
                      <a:r>
                        <a:rPr sz="1400" b="0">
                          <a:solidFill>
                            <a:srgbClr val="222B27"/>
                          </a:solidFill>
                          <a:latin typeface="Calibri"/>
                        </a:rPr>
                        <a:t>11.2.4 Demais compromissos</a:t>
                      </a:r>
                    </a:p>
                  </a:txBody>
                  <a:tcPr marL="73152" marR="73152" anchor="ctr">
                    <a:solidFill>
                      <a:srgbClr val="FFFFFF"/>
                    </a:solidFill>
                  </a:tcPr>
                </a:tc>
                <a:tc>
                  <a:txBody>
                    <a:bodyPr/>
                    <a:lstStyle/>
                    <a:p>
                      <a:pPr algn="r"/>
                      <a:r>
                        <a:rPr sz="1400" b="0">
                          <a:solidFill>
                            <a:srgbClr val="222B27"/>
                          </a:solidFill>
                          <a:latin typeface="Calibri"/>
                        </a:rPr>
                        <a:t>−R$ 13,8 mi</a:t>
                      </a:r>
                    </a:p>
                  </a:txBody>
                  <a:tcPr marL="73152" marR="73152" anchor="ctr">
                    <a:solidFill>
                      <a:srgbClr val="FFFFFF"/>
                    </a:solidFill>
                  </a:tcPr>
                </a:tc>
                <a:tc>
                  <a:txBody>
                    <a:bodyPr/>
                    <a:lstStyle/>
                    <a:p>
                      <a:pPr algn="r"/>
                      <a:r>
                        <a:rPr sz="1400" b="0">
                          <a:solidFill>
                            <a:srgbClr val="222B27"/>
                          </a:solidFill>
                          <a:latin typeface="Calibri"/>
                        </a:rPr>
                        <a:t>−R$ 16,1 mi</a:t>
                      </a:r>
                    </a:p>
                  </a:txBody>
                  <a:tcPr marL="73152" marR="73152" anchor="ctr">
                    <a:solidFill>
                      <a:srgbClr val="FFFFFF"/>
                    </a:solidFill>
                  </a:tcPr>
                </a:tc>
                <a:tc>
                  <a:txBody>
                    <a:bodyPr/>
                    <a:lstStyle/>
                    <a:p>
                      <a:pPr algn="r"/>
                      <a:r>
                        <a:rPr sz="1400" b="0">
                          <a:solidFill>
                            <a:srgbClr val="222B27"/>
                          </a:solidFill>
                          <a:latin typeface="Calibri"/>
                        </a:rPr>
                        <a:t>−R$ 10,4 mi</a:t>
                      </a:r>
                    </a:p>
                  </a:txBody>
                  <a:tcPr marL="73152" marR="73152" anchor="ctr">
                    <a:solidFill>
                      <a:srgbClr val="FFFFFF"/>
                    </a:solidFill>
                  </a:tcPr>
                </a:tc>
              </a:tr>
              <a:tr h="457200">
                <a:tc>
                  <a:txBody>
                    <a:bodyPr/>
                    <a:lstStyle/>
                    <a:p>
                      <a:pPr algn="l"/>
                      <a:r>
                        <a:rPr sz="1400" b="0">
                          <a:solidFill>
                            <a:srgbClr val="222B27"/>
                          </a:solidFill>
                          <a:latin typeface="Calibri"/>
                        </a:rPr>
                        <a:t>11.2.5 Empréstimos e financiamentos</a:t>
                      </a:r>
                    </a:p>
                  </a:txBody>
                  <a:tcPr marL="73152" marR="73152" anchor="ctr">
                    <a:solidFill>
                      <a:srgbClr val="FFFFFF"/>
                    </a:solidFill>
                  </a:tcPr>
                </a:tc>
                <a:tc>
                  <a:txBody>
                    <a:bodyPr/>
                    <a:lstStyle/>
                    <a:p>
                      <a:pPr algn="r"/>
                      <a:r>
                        <a:rPr sz="1400" b="0">
                          <a:solidFill>
                            <a:srgbClr val="222B27"/>
                          </a:solidFill>
                          <a:latin typeface="Calibri"/>
                        </a:rPr>
                        <a:t>−R$ 2,4 mi</a:t>
                      </a:r>
                    </a:p>
                  </a:txBody>
                  <a:tcPr marL="73152" marR="73152" anchor="ctr">
                    <a:solidFill>
                      <a:srgbClr val="FFFFFF"/>
                    </a:solidFill>
                  </a:tcPr>
                </a:tc>
                <a:tc>
                  <a:txBody>
                    <a:bodyPr/>
                    <a:lstStyle/>
                    <a:p>
                      <a:pPr algn="r"/>
                      <a:r>
                        <a:rPr sz="1400" b="0">
                          <a:solidFill>
                            <a:srgbClr val="222B27"/>
                          </a:solidFill>
                          <a:latin typeface="Calibri"/>
                        </a:rPr>
                        <a:t>incl. 11.2.4</a:t>
                      </a:r>
                    </a:p>
                  </a:txBody>
                  <a:tcPr marL="73152" marR="73152" anchor="ctr">
                    <a:solidFill>
                      <a:srgbClr val="FFFFFF"/>
                    </a:solidFill>
                  </a:tcPr>
                </a:tc>
                <a:tc>
                  <a:txBody>
                    <a:bodyPr/>
                    <a:lstStyle/>
                    <a:p>
                      <a:pPr algn="r"/>
                      <a:r>
                        <a:rPr sz="1400" b="0">
                          <a:solidFill>
                            <a:srgbClr val="222B27"/>
                          </a:solidFill>
                          <a:latin typeface="Calibri"/>
                        </a:rPr>
                        <a:t>−R$ 2,4 mi</a:t>
                      </a:r>
                    </a:p>
                  </a:txBody>
                  <a:tcPr marL="73152" marR="73152" anchor="ctr">
                    <a:solidFill>
                      <a:srgbClr val="FFFFFF"/>
                    </a:solidFill>
                  </a:tcPr>
                </a:tc>
              </a:tr>
              <a:tr h="457200">
                <a:tc>
                  <a:txBody>
                    <a:bodyPr/>
                    <a:lstStyle/>
                    <a:p>
                      <a:pPr algn="l"/>
                      <a:r>
                        <a:rPr sz="1400" b="0">
                          <a:solidFill>
                            <a:srgbClr val="222B27"/>
                          </a:solidFill>
                          <a:latin typeface="Calibri"/>
                        </a:rPr>
                        <a:t>Investimento a demonstrar (sem explicação)</a:t>
                      </a:r>
                    </a:p>
                  </a:txBody>
                  <a:tcPr marL="73152" marR="73152" anchor="ctr">
                    <a:solidFill>
                      <a:srgbClr val="FAEEE6"/>
                    </a:solidFill>
                  </a:tcPr>
                </a:tc>
                <a:tc>
                  <a:txBody>
                    <a:bodyPr/>
                    <a:lstStyle/>
                    <a:p>
                      <a:pPr algn="r"/>
                      <a:r>
                        <a:rPr sz="1400" b="0">
                          <a:solidFill>
                            <a:srgbClr val="222B27"/>
                          </a:solidFill>
                          <a:latin typeface="Calibri"/>
                        </a:rPr>
                        <a:t>R$ 0,0 mi</a:t>
                      </a:r>
                    </a:p>
                  </a:txBody>
                  <a:tcPr marL="73152" marR="73152" anchor="ctr">
                    <a:solidFill>
                      <a:srgbClr val="FAEEE6"/>
                    </a:solidFill>
                  </a:tcPr>
                </a:tc>
                <a:tc>
                  <a:txBody>
                    <a:bodyPr/>
                    <a:lstStyle/>
                    <a:p>
                      <a:pPr algn="r"/>
                      <a:r>
                        <a:rPr sz="1400" b="0">
                          <a:solidFill>
                            <a:srgbClr val="222B27"/>
                          </a:solidFill>
                          <a:latin typeface="Calibri"/>
                        </a:rPr>
                        <a:t>—</a:t>
                      </a:r>
                    </a:p>
                  </a:txBody>
                  <a:tcPr marL="73152" marR="73152" anchor="ctr">
                    <a:solidFill>
                      <a:srgbClr val="FAEEE6"/>
                    </a:solidFill>
                  </a:tcPr>
                </a:tc>
                <a:tc>
                  <a:txBody>
                    <a:bodyPr/>
                    <a:lstStyle/>
                    <a:p>
                      <a:pPr algn="r"/>
                      <a:r>
                        <a:rPr sz="1400" b="0">
                          <a:solidFill>
                            <a:srgbClr val="222B27"/>
                          </a:solidFill>
                          <a:latin typeface="Calibri"/>
                        </a:rPr>
                        <a:t>R$ 37,6 mi</a:t>
                      </a:r>
                    </a:p>
                  </a:txBody>
                  <a:tcPr marL="73152" marR="73152" anchor="ctr">
                    <a:solidFill>
                      <a:srgbClr val="FAEEE6"/>
                    </a:solidFill>
                  </a:tcPr>
                </a:tc>
              </a:tr>
              <a:tr h="457200">
                <a:tc>
                  <a:txBody>
                    <a:bodyPr/>
                    <a:lstStyle/>
                    <a:p>
                      <a:pPr algn="l"/>
                      <a:r>
                        <a:rPr sz="1400" b="1">
                          <a:solidFill>
                            <a:srgbClr val="222B27"/>
                          </a:solidFill>
                          <a:latin typeface="Calibri"/>
                        </a:rPr>
                        <a:t>Total do tópico</a:t>
                      </a:r>
                    </a:p>
                  </a:txBody>
                  <a:tcPr marL="73152" marR="73152" anchor="ctr">
                    <a:solidFill>
                      <a:srgbClr val="ECF1ED"/>
                    </a:solidFill>
                  </a:tcPr>
                </a:tc>
                <a:tc>
                  <a:txBody>
                    <a:bodyPr/>
                    <a:lstStyle/>
                    <a:p>
                      <a:pPr algn="r"/>
                      <a:r>
                        <a:rPr sz="1400" b="1">
                          <a:solidFill>
                            <a:srgbClr val="222B27"/>
                          </a:solidFill>
                          <a:latin typeface="Calibri"/>
                        </a:rPr>
                        <a:t>−R$ 51,9 mi</a:t>
                      </a:r>
                    </a:p>
                  </a:txBody>
                  <a:tcPr marL="73152" marR="73152" anchor="ctr">
                    <a:solidFill>
                      <a:srgbClr val="ECF1ED"/>
                    </a:solidFill>
                  </a:tcPr>
                </a:tc>
                <a:tc>
                  <a:txBody>
                    <a:bodyPr/>
                    <a:lstStyle/>
                    <a:p>
                      <a:pPr algn="r"/>
                      <a:r>
                        <a:rPr sz="1400" b="1">
                          <a:solidFill>
                            <a:srgbClr val="222B27"/>
                          </a:solidFill>
                          <a:latin typeface="Calibri"/>
                        </a:rPr>
                        <a:t>−R$ 17,8 mi</a:t>
                      </a:r>
                    </a:p>
                  </a:txBody>
                  <a:tcPr marL="73152" marR="73152" anchor="ctr">
                    <a:solidFill>
                      <a:srgbClr val="ECF1ED"/>
                    </a:solidFill>
                  </a:tcPr>
                </a:tc>
                <a:tc>
                  <a:txBody>
                    <a:bodyPr/>
                    <a:lstStyle/>
                    <a:p>
                      <a:pPr algn="r"/>
                      <a:r>
                        <a:rPr sz="1400" b="1">
                          <a:solidFill>
                            <a:srgbClr val="222B27"/>
                          </a:solidFill>
                          <a:latin typeface="Calibri"/>
                        </a:rPr>
                        <a:t>R$ 6,9 mi</a:t>
                      </a:r>
                    </a:p>
                  </a:txBody>
                  <a:tcPr marL="73152" marR="73152" anchor="ctr">
                    <a:solidFill>
                      <a:srgbClr val="ECF1ED"/>
                    </a:solidFill>
                  </a:tcPr>
                </a:tc>
              </a:tr>
            </a:tbl>
          </a:graphicData>
        </a:graphic>
      </p:graphicFrame>
      <p:sp>
        <p:nvSpPr>
          <p:cNvPr id="7" name="TextBox 6"/>
          <p:cNvSpPr txBox="1"/>
          <p:nvPr/>
        </p:nvSpPr>
        <p:spPr>
          <a:xfrm>
            <a:off x="548640" y="5166360"/>
            <a:ext cx="11064240" cy="1097280"/>
          </a:xfrm>
          <a:prstGeom prst="rect">
            <a:avLst/>
          </a:prstGeom>
          <a:noFill/>
        </p:spPr>
        <p:txBody>
          <a:bodyPr wrap="square" anchor="t" lIns="45720" rIns="45720">
            <a:spAutoFit/>
          </a:bodyPr>
          <a:lstStyle/>
          <a:p>
            <a:pPr algn="l">
              <a:spcAft>
                <a:spcPts val="600"/>
              </a:spcAft>
            </a:pPr>
            <a:r>
              <a:rPr sz="1400" b="1" i="0">
                <a:solidFill>
                  <a:srgbClr val="222B27"/>
                </a:solidFill>
                <a:latin typeface="Calibri"/>
              </a:rPr>
              <a:t>Multa rescisória: </a:t>
            </a:r>
            <a:r>
              <a:rPr sz="1400" b="0" i="0">
                <a:solidFill>
                  <a:srgbClr val="222B27"/>
                </a:solidFill>
                <a:latin typeface="Calibri"/>
              </a:rPr>
              <a:t>não aceita enquanto os contratos estiverem vigentes. Aceita só com distrato assinado e termo de que a empresa nunca mais loteará a gleba; nesse caso, os investimentos nela não são cobrados, mas precisam ser demonstrados.</a:t>
            </a:r>
          </a:p>
          <a:p>
            <a:pPr algn="l">
              <a:spcAft>
                <a:spcPts val="600"/>
              </a:spcAft>
            </a:pPr>
            <a:r>
              <a:rPr sz="1400" b="1" i="0">
                <a:solidFill>
                  <a:srgbClr val="222B27"/>
                </a:solidFill>
                <a:latin typeface="Calibri"/>
              </a:rPr>
              <a:t>Cobrança dupla: </a:t>
            </a:r>
            <a:r>
              <a:rPr sz="1400" b="0" i="0">
                <a:solidFill>
                  <a:srgbClr val="222B27"/>
                </a:solidFill>
                <a:latin typeface="Calibri"/>
              </a:rPr>
              <a:t>R$ 5,4 mi de dívidas já pagas com lotes que saíram do inventário foram tirados do 11.2.2, 11.2.3 e 11.2.4: no 11.2 ficam só cobranças futuras.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que pedimos ao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proposta desta versão, sujeita à aprovação do Luís</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11</a:t>
            </a:r>
          </a:p>
        </p:txBody>
      </p:sp>
      <p:sp>
        <p:nvSpPr>
          <p:cNvPr id="6" name="Rounded Rectangle 5"/>
          <p:cNvSpPr/>
          <p:nvPr/>
        </p:nvSpPr>
        <p:spPr>
          <a:xfrm>
            <a:off x="548640" y="146304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8" name="TextBox 7"/>
          <p:cNvSpPr txBox="1"/>
          <p:nvPr/>
        </p:nvSpPr>
        <p:spPr>
          <a:xfrm>
            <a:off x="1463040" y="166420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Valores reais</a:t>
            </a:r>
          </a:p>
        </p:txBody>
      </p:sp>
      <p:sp>
        <p:nvSpPr>
          <p:cNvPr id="9" name="TextBox 8"/>
          <p:cNvSpPr txBox="1"/>
          <p:nvPr/>
        </p:nvSpPr>
        <p:spPr>
          <a:xfrm>
            <a:off x="1463040" y="224028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Preço e recebimento de cada lote vendido de 2019 a 2024, e o investimento feito em cada loteamento não finalizado.</a:t>
            </a:r>
          </a:p>
        </p:txBody>
      </p:sp>
      <p:sp>
        <p:nvSpPr>
          <p:cNvPr id="10" name="Rounded Rectangle 9"/>
          <p:cNvSpPr/>
          <p:nvPr/>
        </p:nvSpPr>
        <p:spPr>
          <a:xfrm>
            <a:off x="6172200" y="146304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0" y="169164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2" name="TextBox 11"/>
          <p:cNvSpPr txBox="1"/>
          <p:nvPr/>
        </p:nvSpPr>
        <p:spPr>
          <a:xfrm>
            <a:off x="7086600" y="166420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Ou a devolução de 1/6</a:t>
            </a:r>
          </a:p>
        </p:txBody>
      </p:sp>
      <p:sp>
        <p:nvSpPr>
          <p:cNvPr id="13" name="TextBox 12"/>
          <p:cNvSpPr txBox="1"/>
          <p:nvPr/>
        </p:nvSpPr>
        <p:spPr>
          <a:xfrm>
            <a:off x="7086600" y="224028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Sem esses valores: 1/6 do que não tem explicação, R$ 6,3 mi no preço do próprio grupo.</a:t>
            </a:r>
          </a:p>
        </p:txBody>
      </p:sp>
      <p:sp>
        <p:nvSpPr>
          <p:cNvPr id="14" name="Rounded Rectangle 13"/>
          <p:cNvSpPr/>
          <p:nvPr/>
        </p:nvSpPr>
        <p:spPr>
          <a:xfrm>
            <a:off x="548640" y="384048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40690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6" name="TextBox 15"/>
          <p:cNvSpPr txBox="1"/>
          <p:nvPr/>
        </p:nvSpPr>
        <p:spPr>
          <a:xfrm>
            <a:off x="1463040" y="404164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Multas só com distrato</a:t>
            </a:r>
          </a:p>
        </p:txBody>
      </p:sp>
      <p:sp>
        <p:nvSpPr>
          <p:cNvPr id="17" name="TextBox 16"/>
          <p:cNvSpPr txBox="1"/>
          <p:nvPr/>
        </p:nvSpPr>
        <p:spPr>
          <a:xfrm>
            <a:off x="1463040" y="461772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Distrato assinado e termo de nunca mais lotear a gleba. Novo contrato depois da cisão seria tratado como fraude.</a:t>
            </a:r>
          </a:p>
        </p:txBody>
      </p:sp>
      <p:sp>
        <p:nvSpPr>
          <p:cNvPr id="18" name="Rounded Rectangle 17"/>
          <p:cNvSpPr/>
          <p:nvPr/>
        </p:nvSpPr>
        <p:spPr>
          <a:xfrm>
            <a:off x="6172200" y="384048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0" y="40690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20" name="TextBox 19"/>
          <p:cNvSpPr txBox="1"/>
          <p:nvPr/>
        </p:nvSpPr>
        <p:spPr>
          <a:xfrm>
            <a:off x="7086600" y="404164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Lotes de 2025 e lotes a mais</a:t>
            </a:r>
          </a:p>
        </p:txBody>
      </p:sp>
      <p:sp>
        <p:nvSpPr>
          <p:cNvPr id="21" name="TextBox 20"/>
          <p:cNvSpPr txBox="1"/>
          <p:nvPr/>
        </p:nvSpPr>
        <p:spPr>
          <a:xfrm>
            <a:off x="7086600" y="461772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Os 37 lotes que saíram em 2025 voltam à data-base; os 26 lotes a mais do arquivo 17 já contam como vendidos pela SEI.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Limites deste rascunho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v0.2 · Parte 4 da SEI · 28/10/2026 · Fonte: aba Pendências</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12</a:t>
            </a:r>
          </a:p>
        </p:txBody>
      </p:sp>
      <p:sp>
        <p:nvSpPr>
          <p:cNvPr id="6" name="TextBox 5"/>
          <p:cNvSpPr txBox="1"/>
          <p:nvPr/>
        </p:nvSpPr>
        <p:spPr>
          <a:xfrm>
            <a:off x="548640" y="1371600"/>
            <a:ext cx="11064240" cy="4846320"/>
          </a:xfrm>
          <a:prstGeom prst="rect">
            <a:avLst/>
          </a:prstGeom>
          <a:noFill/>
        </p:spPr>
        <p:txBody>
          <a:bodyPr wrap="square" anchor="t" lIns="45720" rIns="45720">
            <a:spAutoFit/>
          </a:bodyPr>
          <a:lstStyle/>
          <a:p>
            <a:pPr algn="l">
              <a:spcAft>
                <a:spcPts val="800"/>
              </a:spcAft>
            </a:pPr>
            <a:r>
              <a:rPr sz="1600" b="1" i="0">
                <a:solidFill>
                  <a:srgbClr val="1F3A2E"/>
                </a:solidFill>
                <a:latin typeface="Calibri"/>
              </a:rPr>
              <a:t>Premissas</a:t>
            </a:r>
          </a:p>
          <a:p>
            <a:pPr algn="l">
              <a:spcAft>
                <a:spcPts val="800"/>
              </a:spcAft>
            </a:pPr>
            <a:r>
              <a:rPr sz="1600" b="0" i="0">
                <a:solidFill>
                  <a:srgbClr val="222B27"/>
                </a:solidFill>
                <a:latin typeface="Calibri"/>
              </a:rPr>
              <a:t>Aprovadas: custos de 2019 a 2024 (72 meses) extrapolados com IPCA; preço de referência = média do grupo de 2025 trazida pelo IPCA; lotes a mais do arquivo 17 incluídos; pró-labore de 4 dos 6 ramos (Válter, Adélia, Pedro e Raul) como custo da empresa. A decidir: itens 11.2.2 a 11.2.5, um a um.</a:t>
            </a:r>
          </a:p>
          <a:p>
            <a:pPr algn="l">
              <a:spcAft>
                <a:spcPts val="800"/>
              </a:spcAft>
            </a:pPr>
            <a:r>
              <a:rPr sz="1600" b="1" i="0">
                <a:solidFill>
                  <a:srgbClr val="1F3A2E"/>
                </a:solidFill>
                <a:latin typeface="Calibri"/>
              </a:rPr>
              <a:t>Materiais ainda em edição</a:t>
            </a:r>
          </a:p>
          <a:p>
            <a:pPr algn="l">
              <a:spcAft>
                <a:spcPts val="800"/>
              </a:spcAft>
            </a:pPr>
            <a:r>
              <a:rPr sz="1600" b="0" i="0">
                <a:solidFill>
                  <a:srgbClr val="222B27"/>
                </a:solidFill>
                <a:latin typeface="Calibri"/>
              </a:rPr>
              <a:t>Achados da análise do ACERTOS E ACORDOS; levantamento ambiental (lotes de terceiros); soja e terras da São Crispin. A classificação das contas pagas usada é a versão final de 28/10.</a:t>
            </a:r>
          </a:p>
          <a:p>
            <a:pPr algn="l">
              <a:spcAft>
                <a:spcPts val="800"/>
              </a:spcAft>
            </a:pPr>
            <a:r>
              <a:rPr sz="1600" b="1" i="0">
                <a:solidFill>
                  <a:srgbClr val="1F3A2E"/>
                </a:solidFill>
                <a:latin typeface="Calibri"/>
              </a:rPr>
              <a:t>Escolhas a favor do grupo</a:t>
            </a:r>
          </a:p>
          <a:p>
            <a:pPr algn="l">
              <a:spcAft>
                <a:spcPts val="800"/>
              </a:spcAft>
            </a:pPr>
            <a:r>
              <a:rPr sz="1600" b="0" i="0">
                <a:solidFill>
                  <a:srgbClr val="222B27"/>
                </a:solidFill>
                <a:latin typeface="Calibri"/>
              </a:rPr>
              <a:t>Bens novos tratados como comprados em dinheiro; dívidas de 2018 que não aparecem em 2025 tratadas como pagas; conta do Sicredi (R$ 5,4 mi) tratada como da SEI.</a:t>
            </a:r>
          </a:p>
          <a:p>
            <a:pPr algn="l">
              <a:spcAft>
                <a:spcPts val="800"/>
              </a:spcAft>
            </a:pPr>
            <a:r>
              <a:rPr sz="1600" b="1" i="0">
                <a:solidFill>
                  <a:srgbClr val="1F3A2E"/>
                </a:solidFill>
                <a:latin typeface="Calibri"/>
              </a:rPr>
              <a:t>Conferência</a:t>
            </a:r>
          </a:p>
          <a:p>
            <a:pPr algn="l">
              <a:spcAft>
                <a:spcPts val="800"/>
              </a:spcAft>
            </a:pPr>
            <a:r>
              <a:rPr sz="1600" b="0" i="0">
                <a:solidFill>
                  <a:srgbClr val="222B27"/>
                </a:solidFill>
                <a:latin typeface="Calibri"/>
              </a:rPr>
              <a:t>Revisor independente em três rodadas (v0, v0.1 e v0.2); os achados foram corrigidos nesta versão. Classificação das saídas por palavras-chave; a lista lote a lote está na planilha.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SEI — para onde foi o dinheiro dos lotes (rascunho v0.2)</dc:title>
  <dc:subject/>
  <dc:creator>Luís Siviero (rascunho)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