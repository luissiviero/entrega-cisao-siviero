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Estoque de lotes (R$ mi, preços de out/2025)</c:v>
                </c:pt>
              </c:strCache>
            </c:strRef>
          </c:tx>
          <c:spPr>
            <a:ln w="38100">
              <a:solidFill>
                <a:srgbClr val="1F3A2E"/>
              </a:solidFill>
            </a:ln>
          </c:spPr>
          <c:marker>
            <c:spPr>
              <a:solidFill>
                <a:srgbClr val="1F3A2E"/>
              </a:solidFill>
            </c:spPr>
          </c:marker>
          <c:cat>
            <c:strRef>
              <c:f>Sheet1!$A$2:$A$10</c:f>
              <c:strCache>
                <c:ptCount val="9"/>
                <c:pt idx="0">
                  <c:v>início 2018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out/2025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240.4</c:v>
                </c:pt>
                <c:pt idx="1">
                  <c:v>228.8</c:v>
                </c:pt>
                <c:pt idx="2">
                  <c:v>208.3</c:v>
                </c:pt>
                <c:pt idx="3">
                  <c:v>191.9</c:v>
                </c:pt>
                <c:pt idx="4">
                  <c:v>165.0</c:v>
                </c:pt>
                <c:pt idx="5">
                  <c:v>150.5</c:v>
                </c:pt>
                <c:pt idx="6">
                  <c:v>140.8</c:v>
                </c:pt>
                <c:pt idx="7">
                  <c:v>127.9</c:v>
                </c:pt>
                <c:pt idx="8">
                  <c:v>116.6</c:v>
                </c:pt>
              </c:numCache>
            </c:numRef>
          </c:val>
          <c:smooth val="0"/>
        </c:ser>
        <c:dLbls>
          <c:numFmt formatCode="#,##0.0" sourceLinked="0"/>
          <c:txPr>
            <a:bodyPr/>
            <a:lstStyle/>
            <a:p>
              <a:pPr>
                <a:defRPr sz="1100"/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EDB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>
              <a:solidFill>
                <a:srgbClr val="D9DEDB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5E6A64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Lotes</c:v>
                </c:pt>
              </c:strCache>
            </c:strRef>
          </c:tx>
          <c:dPt>
            <c:idx val="0"/>
            <c:spPr>
              <a:solidFill>
                <a:srgbClr val="1F3A2E"/>
              </a:solidFill>
            </c:spPr>
          </c:dPt>
          <c:dPt>
            <c:idx val="1"/>
            <c:spPr>
              <a:solidFill>
                <a:srgbClr val="4E7A5E"/>
              </a:solidFill>
            </c:spPr>
          </c:dPt>
          <c:dPt>
            <c:idx val="2"/>
            <c:spPr>
              <a:solidFill>
                <a:srgbClr val="4E7A5E"/>
              </a:solidFill>
            </c:spPr>
          </c:dPt>
          <c:dPt>
            <c:idx val="3"/>
            <c:spPr>
              <a:solidFill>
                <a:srgbClr val="4E7A5E"/>
              </a:solidFill>
            </c:spPr>
          </c:dPt>
          <c:dPt>
            <c:idx val="4"/>
            <c:spPr>
              <a:solidFill>
                <a:srgbClr val="4E7A5E"/>
              </a:solidFill>
            </c:spPr>
          </c:dPt>
          <c:dPt>
            <c:idx val="5"/>
            <c:spPr>
              <a:solidFill>
                <a:srgbClr val="B85A22"/>
              </a:solidFill>
            </c:spPr>
          </c:dPt>
          <c:cat>
            <c:strRef>
              <c:f>Sheet1!$A$2:$A$7</c:f>
              <c:strCache>
                <c:ptCount val="6"/>
                <c:pt idx="0">
                  <c:v>Venda em dinheiro</c:v>
                </c:pt>
                <c:pt idx="1">
                  <c:v>Acordos, indenizações e distratos</c:v>
                </c:pt>
                <c:pt idx="2">
                  <c:v>Sócios e família</c:v>
                </c:pt>
                <c:pt idx="3">
                  <c:v>Pagamento de obras e serviços</c:v>
                </c:pt>
                <c:pt idx="4">
                  <c:v>Troca por bem ou área</c:v>
                </c:pt>
                <c:pt idx="5">
                  <c:v>Sem destino documentado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135.8</c:v>
                </c:pt>
                <c:pt idx="1">
                  <c:v>64.0</c:v>
                </c:pt>
                <c:pt idx="2">
                  <c:v>27.7</c:v>
                </c:pt>
                <c:pt idx="3">
                  <c:v>27.1</c:v>
                </c:pt>
                <c:pt idx="4">
                  <c:v>26.0</c:v>
                </c:pt>
                <c:pt idx="5">
                  <c:v>25.4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EDB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9DEDB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E6A64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R$ mi em 15 meses</c:v>
                </c:pt>
              </c:strCache>
            </c:strRef>
          </c:tx>
          <c:dPt>
            <c:idx val="0"/>
            <c:spPr>
              <a:solidFill>
                <a:srgbClr val="1F3A2E"/>
              </a:solidFill>
            </c:spPr>
          </c:dPt>
          <c:dPt>
            <c:idx val="1"/>
            <c:spPr>
              <a:solidFill>
                <a:srgbClr val="4E7A5E"/>
              </a:solidFill>
            </c:spPr>
          </c:dPt>
          <c:dPt>
            <c:idx val="2"/>
            <c:spPr>
              <a:solidFill>
                <a:srgbClr val="4E7A5E"/>
              </a:solidFill>
            </c:spPr>
          </c:dPt>
          <c:dPt>
            <c:idx val="3"/>
            <c:spPr>
              <a:solidFill>
                <a:srgbClr val="4E7A5E"/>
              </a:solidFill>
            </c:spPr>
          </c:dPt>
          <c:dPt>
            <c:idx val="4"/>
            <c:spPr>
              <a:solidFill>
                <a:srgbClr val="4E7A5E"/>
              </a:solidFill>
            </c:spPr>
          </c:dPt>
          <c:cat>
            <c:strRef>
              <c:f>Sheet1!$A$2:$A$6</c:f>
              <c:strCache>
                <c:ptCount val="5"/>
                <c:pt idx="0">
                  <c:v>Manter a empresa</c:v>
                </c:pt>
                <c:pt idx="1">
                  <c:v>Obras, projetos e combustível</c:v>
                </c:pt>
                <c:pt idx="2">
                  <c:v>Compra de bens</c:v>
                </c:pt>
                <c:pt idx="3">
                  <c:v>Pago com lotes</c:v>
                </c:pt>
                <c:pt idx="4">
                  <c:v>Devolução de empréstimos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5.0</c:v>
                </c:pt>
                <c:pt idx="1">
                  <c:v>1.23</c:v>
                </c:pt>
                <c:pt idx="2">
                  <c:v>1.68</c:v>
                </c:pt>
                <c:pt idx="3">
                  <c:v>1.44</c:v>
                </c:pt>
                <c:pt idx="4">
                  <c:v>0.53</c:v>
                </c:pt>
              </c:numCache>
            </c:numRef>
          </c:val>
        </c:ser>
        <c:dLbls>
          <c:numFmt formatCode="#,##0.0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EDB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DEDB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E6A64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Sheet1!$A$2:$A$9</c:f>
              <c:strCache>
                <c:ptCount val="8"/>
                <c:pt idx="0">
                  <c:v>Lotes vendidos em dinheiro</c:v>
                </c:pt>
                <c:pt idx="1">
                  <c:v>Aluguéis</c:v>
                </c:pt>
                <c:pt idx="2">
                  <c:v>Lotes sem destino</c:v>
                </c:pt>
                <c:pt idx="3">
                  <c:v>Manter a empresa</c:v>
                </c:pt>
                <c:pt idx="4">
                  <c:v>Dívidas de 2018 pagas</c:v>
                </c:pt>
                <c:pt idx="5">
                  <c:v>Bens comprados</c:v>
                </c:pt>
                <c:pt idx="6">
                  <c:v>Conclusão de loteamentos</c:v>
                </c:pt>
                <c:pt idx="7">
                  <c:v>Sem explicação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</c:v>
                </c:pt>
                <c:pt idx="1">
                  <c:v>62.1</c:v>
                </c:pt>
                <c:pt idx="2">
                  <c:v>65.0</c:v>
                </c:pt>
                <c:pt idx="3">
                  <c:v>45.8</c:v>
                </c:pt>
                <c:pt idx="4">
                  <c:v>38.0</c:v>
                </c:pt>
                <c:pt idx="5">
                  <c:v>34.2</c:v>
                </c:pt>
                <c:pt idx="6">
                  <c:v>26.7</c:v>
                </c:pt>
                <c:pt idx="7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valor</c:v>
                </c:pt>
              </c:strCache>
            </c:strRef>
          </c:tx>
          <c:dPt>
            <c:idx val="0"/>
            <c:spPr>
              <a:solidFill>
                <a:srgbClr val="4E7A5E"/>
              </a:solidFill>
            </c:spPr>
          </c:dPt>
          <c:dPt>
            <c:idx val="1"/>
            <c:spPr>
              <a:solidFill>
                <a:srgbClr val="4E7A5E"/>
              </a:solidFill>
            </c:spPr>
          </c:dPt>
          <c:dPt>
            <c:idx val="2"/>
            <c:spPr>
              <a:solidFill>
                <a:srgbClr val="4E7A5E"/>
              </a:solidFill>
            </c:spPr>
          </c:dPt>
          <c:dPt>
            <c:idx val="3"/>
            <c:spPr>
              <a:solidFill>
                <a:srgbClr val="B85A22"/>
              </a:solidFill>
            </c:spPr>
          </c:dPt>
          <c:dPt>
            <c:idx val="4"/>
            <c:spPr>
              <a:solidFill>
                <a:srgbClr val="B85A22"/>
              </a:solidFill>
            </c:spPr>
          </c:dPt>
          <c:dPt>
            <c:idx val="5"/>
            <c:spPr>
              <a:solidFill>
                <a:srgbClr val="B85A22"/>
              </a:solidFill>
            </c:spPr>
          </c:dPt>
          <c:dPt>
            <c:idx val="6"/>
            <c:spPr>
              <a:solidFill>
                <a:srgbClr val="B85A22"/>
              </a:solidFill>
            </c:spPr>
          </c:dPt>
          <c:dPt>
            <c:idx val="7"/>
            <c:spPr>
              <a:solidFill>
                <a:srgbClr val="1F3A2E"/>
              </a:solidFill>
            </c:spPr>
          </c:dPt>
          <c:dLbls>
            <c:numFmt formatCode="#,##0.0" sourceLinked="0"/>
            <c:txPr>
              <a:bodyPr/>
              <a:lstStyle/>
              <a:p>
                <a:pPr>
                  <a:defRPr sz="1100">
                    <a:solidFill>
                      <a:srgbClr val="FFFFFF"/>
                    </a:solidFill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Lotes vendidos em dinheiro</c:v>
                </c:pt>
                <c:pt idx="1">
                  <c:v>Aluguéis</c:v>
                </c:pt>
                <c:pt idx="2">
                  <c:v>Lotes sem destino</c:v>
                </c:pt>
                <c:pt idx="3">
                  <c:v>Manter a empresa</c:v>
                </c:pt>
                <c:pt idx="4">
                  <c:v>Dívidas de 2018 pagas</c:v>
                </c:pt>
                <c:pt idx="5">
                  <c:v>Bens comprados</c:v>
                </c:pt>
                <c:pt idx="6">
                  <c:v>Conclusão de loteamentos</c:v>
                </c:pt>
                <c:pt idx="7">
                  <c:v>Sem explicação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62.1</c:v>
                </c:pt>
                <c:pt idx="1">
                  <c:v>3.0</c:v>
                </c:pt>
                <c:pt idx="2">
                  <c:v>8.8</c:v>
                </c:pt>
                <c:pt idx="3">
                  <c:v>28.0</c:v>
                </c:pt>
                <c:pt idx="4">
                  <c:v>7.8</c:v>
                </c:pt>
                <c:pt idx="5">
                  <c:v>3.9</c:v>
                </c:pt>
                <c:pt idx="6">
                  <c:v>7.5</c:v>
                </c:pt>
                <c:pt idx="7">
                  <c:v>26.7</c:v>
                </c:pt>
              </c:numCache>
            </c:numRef>
          </c:val>
        </c:ser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EDB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DEDB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E6A64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Rascunho para discussão. Este estudo segue o dinheiro: quanto entrou com a venda de lotes de 2018 a 2024, quanto o grupo gastou para manter a empresa e pagar dívidas, e quanto sobra sem explicação.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Cenário de referência: preço dos lotes igual à média que o próprio grupo usa em out/2025. No preço de 2018 do inventário, a conta fecha negativa (−R$ 17,3 mi); no cenário intermediário, R$ 0,4 mi. A diferença vem do preço de venda, que o grupo ainda não informou.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 2018 o grupo atribuía valor de investimento aos loteamentos em execução e contratados. Em 2025 os mesmos empreendimentos valem zero e geram multa. Rafael mistura lotes executados com multas, o que é contraditório: se há multa por distrato, não há lote; se há lote, não há multa.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Estoque de lotes executados, todos avaliados no mesmo preço (média do grupo em out/2025), para que a queda mostre só os lotes que saíram e não a variação de preço. Saídas sem data foram distribuídas igualmente entre 2018 e 2024.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Quantidade de lotes por forma de saída. Só a venda em dinheiro gera caixa. As demais formas têm destino declarado: pagaram obras e serviços, acordos e indenizações, foram trocadas por bens ou entregues a sócios e família. Lotes sem informação não têm destino documentado (premissa P4).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Média dos 15 meses de contas pagas da SEI. Entram os gastos recorrentes (folha, pró-labore, impostos, juros, comissões, divisão de aluguéis) e também dívidas, multas, acordos e divisão de lucros. Combustível não é recorrente: indica máquinas em obra, por isso vai para investimento. Devoluções de empréstimo são tratadas pela variação da dívida, e pagamentos com lotes já estão na saída de lotes.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Entradas em verde, saídas em terracota. A concessão para concluir Falavigna e Colina do Retiro II usa o custo de R$ 50 mil por lote que o próprio grupo adota nas estimativas dos loteamentos contratados; é um teto a favor do grupo. Dívidas: saldo de jan/2019 menos os empréstimos que aparecem em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grupo não informou por quanto vendeu cada lote. Nas dações e aquisições de lote isolado, o próprio grupo atribuiu aos lotes valores próximos ou acima da média de out/2025. Por isso o preço do grupo de 2025 é a referência deste rascunho; a decisão final depende dos valores reais.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Só os aluguéis da SEI entram na conta, pela relação de aluguéis de 2018. As vendas de terras e a soja são de outras empresas do grupo (Hotel Princesa dos Vales / São Crispin) e não foram somadas. Os relatórios mensais mostram que esse dinheiro passa pelo caixa da SEI, o que precisa ser esclarecido.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Primeiro vêm os blocos em separado; só depois o total do tópico. Nesta versão, só o 11.2.1 muda: sem multa enquanto os contratos estiverem vigentes, e o investimento sem explicação entra como ativo a demonstrar. Os demais itens seguem o valor do grupo até a decisão item a 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Dois caminhos: os valores reais permitem recalcular; sem eles, vale a devolução de 1/6.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Tudo aqui é provisório. Os números mudam quando os materiais em edição forem fechados e quando o Luís aprovar as premissas.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55448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Para onde foi o dinheiro dos lotes vendidos?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9748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ECF1ED"/>
                </a:solidFill>
                <a:latin typeface="Calibri"/>
              </a:rPr>
              <a:t>SIVIERO EMPREENDIMENTOS IMOBILIÁRIOS · 2018 a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2900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ECF1ED"/>
                </a:solidFill>
                <a:latin typeface="Calibri"/>
              </a:rPr>
              <a:t>Parte 4 — Contratos | Indenizações | Compromissos | Empréstimos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ECF1ED"/>
                </a:solidFill>
                <a:latin typeface="Calibri"/>
              </a:rPr>
              <a:t>Rascunho v0 para discussão · 28/10/2026 · valores provisórios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F3A2E"/>
                </a:solidFill>
                <a:latin typeface="Cambria"/>
              </a:rPr>
              <a:t>O patrimônio caiu e o dinheiro não aparece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77272" y="56692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B85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PROVISÓRIO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E6A64"/>
                </a:solidFill>
                <a:latin typeface="Calibri"/>
              </a:rPr>
              <a:t>Rascunho v0 · Parte 4 da SEI · 28/10/2026 · Fonte: fluxo-caixa-sei-v0.xlsx, aba Ponte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943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A64"/>
                </a:solidFill>
                <a:latin typeface="Calibr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606040" cy="2743200"/>
          </a:xfrm>
          <a:prstGeom prst="roundRect">
            <a:avLst>
              <a:gd name="adj" fmla="val 8000"/>
            </a:avLst>
          </a:prstGeom>
          <a:solidFill>
            <a:srgbClr val="E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22860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F3A2E"/>
                </a:solidFill>
                <a:latin typeface="Cambria"/>
              </a:rPr>
              <a:t>306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22860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lotes saíram do estoque de 2018 a 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22860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E6A64"/>
                </a:solidFill>
                <a:latin typeface="Calibri"/>
              </a:rPr>
              <a:t>mais 30 em 2025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08760"/>
            <a:ext cx="2606040" cy="2743200"/>
          </a:xfrm>
          <a:prstGeom prst="roundRect">
            <a:avLst>
              <a:gd name="adj" fmla="val 8000"/>
            </a:avLst>
          </a:prstGeom>
          <a:solidFill>
            <a:srgbClr val="E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1691640"/>
            <a:ext cx="22860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F3A2E"/>
                </a:solidFill>
                <a:latin typeface="Cambria"/>
              </a:rPr>
              <a:t>R$ 112,5 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2606040"/>
            <a:ext cx="22860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valem esses lotes no preço do próprio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3520440"/>
            <a:ext cx="22860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E6A64"/>
                </a:solidFill>
                <a:latin typeface="Calibri"/>
              </a:rPr>
              <a:t>R$ 62,1 mi vendidos em dinheiro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508760"/>
            <a:ext cx="2606040" cy="2743200"/>
          </a:xfrm>
          <a:prstGeom prst="roundRect">
            <a:avLst>
              <a:gd name="adj" fmla="val 8000"/>
            </a:avLst>
          </a:prstGeom>
          <a:solidFill>
            <a:srgbClr val="E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1691640"/>
            <a:ext cx="22860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F3A2E"/>
                </a:solidFill>
                <a:latin typeface="Cambria"/>
              </a:rPr>
              <a:t>R$ 47,1 mi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606040"/>
            <a:ext cx="22860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explicam os gastos, dívidas e bens comprados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3520440"/>
            <a:ext cx="22860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E6A64"/>
                </a:solidFill>
                <a:latin typeface="Calibri"/>
              </a:rPr>
              <a:t>84 meses de custo de manter a empresa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97696" y="1508760"/>
            <a:ext cx="2606040" cy="2743200"/>
          </a:xfrm>
          <a:prstGeom prst="roundRect">
            <a:avLst>
              <a:gd name="adj" fmla="val 8000"/>
            </a:avLst>
          </a:prstGeom>
          <a:solidFill>
            <a:srgbClr val="FA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1691640"/>
            <a:ext cx="22860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B85A22"/>
                </a:solidFill>
                <a:latin typeface="Cambria"/>
              </a:rPr>
              <a:t>R$ 26,7 mi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0576" y="2606040"/>
            <a:ext cx="22860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ficam sem explicação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0576" y="3520440"/>
            <a:ext cx="22860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E6A64"/>
                </a:solidFill>
                <a:latin typeface="Calibri"/>
              </a:rPr>
              <a:t>1/6 = R$ 4,4 mi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572000"/>
            <a:ext cx="1106424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22B27"/>
                </a:solidFill>
                <a:latin typeface="Calibri"/>
              </a:rPr>
              <a:t>Se a empresa diz que não tem caixa, esse dinheiro foi investido em algo — </a:t>
            </a:r>
            <a:r>
              <a:rPr sz="1600" b="1" i="0">
                <a:solidFill>
                  <a:srgbClr val="222B27"/>
                </a:solidFill>
                <a:latin typeface="Calibri"/>
              </a:rPr>
              <a:t>provavelmente nos loteamentos que o grupo avalia em R$ 0 e dos quais ainda desconta multas.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22B27"/>
                </a:solidFill>
                <a:latin typeface="Calibri"/>
              </a:rPr>
              <a:t>Ou o grupo mostra os valores reais e a diferença é recalculada, ou 1/6 do valor sem explicação volta ao sócio que sai.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F3A2E"/>
                </a:solidFill>
                <a:latin typeface="Cambria"/>
              </a:rPr>
              <a:t>“R$ 0 + multa” não fecha com o que o próprio grupo dizia em 2018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77272" y="56692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B85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PROVISÓRIO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E6A64"/>
                </a:solidFill>
                <a:latin typeface="Calibri"/>
              </a:rPr>
              <a:t>Rascunho v0 · Parte 4 da SEI · 28/10/2026 · Fonte: inventário 2018 (doc 18); doc 11; Estudo 2 de Rafael; aba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943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A64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520440" cy="3291840"/>
          </a:xfrm>
          <a:prstGeom prst="roundRect">
            <a:avLst>
              <a:gd name="adj" fmla="val 8000"/>
            </a:avLst>
          </a:prstGeom>
          <a:solidFill>
            <a:srgbClr val="E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F3A2E"/>
                </a:solidFill>
                <a:latin typeface="Cambria"/>
              </a:rPr>
              <a:t>2018 · o grupo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3108960" cy="2468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Loteamentos em execução: R$ 5,4 mi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Contratados: R$ 1,2 mi (R$ 50 mil cada, “investimentos iniciais”)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Planilha de investimentos pagos: R$ 10,4 mi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463040"/>
            <a:ext cx="3520440" cy="3291840"/>
          </a:xfrm>
          <a:prstGeom prst="roundRect">
            <a:avLst>
              <a:gd name="adj" fmla="val 8000"/>
            </a:avLst>
          </a:prstGeom>
          <a:solidFill>
            <a:srgbClr val="FA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79" y="1600200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B85A22"/>
                </a:solidFill>
                <a:latin typeface="Cambria"/>
              </a:rPr>
              <a:t>2025 · o grupo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2194560"/>
            <a:ext cx="3108960" cy="2468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Os mesmos loteamentos: R$ 0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Multas rescisórias descontadas: −R$ 15,8 mi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Nenhum investimento do período aparece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463040"/>
            <a:ext cx="3520440" cy="3291840"/>
          </a:xfrm>
          <a:prstGeom prst="roundRect">
            <a:avLst>
              <a:gd name="adj" fmla="val 8000"/>
            </a:avLst>
          </a:prstGeom>
          <a:solidFill>
            <a:srgbClr val="E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9" y="1600200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4E7A5E"/>
                </a:solidFill>
                <a:latin typeface="Cambria"/>
              </a:rPr>
              <a:t>2025 · Rafael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2194560"/>
            <a:ext cx="3108960" cy="2468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Áreas contratadas: R$ 18,4 mi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Soma valor de lotes executados com multas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Contraditório: lote e multa se excluem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29200"/>
            <a:ext cx="1106424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22B27"/>
                </a:solidFill>
                <a:latin typeface="Calibri"/>
              </a:rPr>
              <a:t>Em vez de avaliar cada loteamento (não sabemos quanto foi investido em cada um), </a:t>
            </a:r>
            <a:r>
              <a:rPr sz="1600" b="1" i="0">
                <a:solidFill>
                  <a:srgbClr val="222B27"/>
                </a:solidFill>
                <a:latin typeface="Calibri"/>
              </a:rPr>
              <a:t>seguimos o dinheiro: </a:t>
            </a:r>
            <a:r>
              <a:rPr sz="1600" b="0" i="0">
                <a:solidFill>
                  <a:srgbClr val="222B27"/>
                </a:solidFill>
                <a:latin typeface="Calibri"/>
              </a:rPr>
              <a:t>o que entrou com os lotes, o que saiu para manter a empresa e o que sobra.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F3A2E"/>
                </a:solidFill>
                <a:latin typeface="Cambria"/>
              </a:rPr>
              <a:t>O estoque de lotes perdeu metade do valor em sete anos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77272" y="56692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B85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PROVISÓRIO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E6A64"/>
                </a:solidFill>
                <a:latin typeface="Calibri"/>
              </a:rPr>
              <a:t>Rascunho v0 · Parte 4 da SEI · 28/10/2026 · Fonte: aba 'Lotes que saíram 2018-2025' e arquivo 17; preços de out/2025 do grupo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943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A64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7589520" cy="4846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412480" y="1463040"/>
            <a:ext cx="3200400" cy="4663440"/>
          </a:xfrm>
          <a:prstGeom prst="roundRect">
            <a:avLst>
              <a:gd name="adj" fmla="val 8000"/>
            </a:avLst>
          </a:prstGeom>
          <a:solidFill>
            <a:srgbClr val="E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1645920"/>
            <a:ext cx="2834640" cy="4389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F3A2E"/>
                </a:solidFill>
                <a:latin typeface="Calibri"/>
              </a:rPr>
              <a:t>Início de 2018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761 lotes · R$ 240,4 mi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F3A2E"/>
                </a:solidFill>
                <a:latin typeface="Calibri"/>
              </a:rPr>
              <a:t>Fim de 2024 (data-base)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455 lotes · R$ 127,9 mi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F3A2E"/>
                </a:solidFill>
                <a:latin typeface="Calibri"/>
              </a:rPr>
              <a:t>Out/2025 (doc 11)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426 lotes · R$ 116,6 mi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222B27"/>
                </a:solidFill>
                <a:latin typeface="Calibri"/>
              </a:rPr>
              <a:t>Queda até a data-base: </a:t>
            </a:r>
            <a:r>
              <a:rPr sz="1500" b="1" i="0">
                <a:solidFill>
                  <a:srgbClr val="B85A22"/>
                </a:solidFill>
                <a:latin typeface="Calibri"/>
              </a:rPr>
              <a:t>R$ 112,5 mi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F3A2E"/>
                </a:solidFill>
                <a:latin typeface="Cambria"/>
              </a:rPr>
              <a:t>Como saíram os 306 lotes de 2018 a 2024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77272" y="56692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B85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PROVISÓRIO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E6A64"/>
                </a:solidFill>
                <a:latin typeface="Calibri"/>
              </a:rPr>
              <a:t>Rascunho v0 · Parte 4 da SEI · 28/10/2026 · Fonte: arquivo 17 (forma de cada saída), classificado por palavras-chave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943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A64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7315200" cy="4846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138160" y="1463040"/>
            <a:ext cx="3474720" cy="4663440"/>
          </a:xfrm>
          <a:prstGeom prst="roundRect">
            <a:avLst>
              <a:gd name="adj" fmla="val 8000"/>
            </a:avLst>
          </a:prstGeom>
          <a:solidFill>
            <a:srgbClr val="E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1645920"/>
            <a:ext cx="3108960" cy="4389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F3A2E"/>
                </a:solidFill>
                <a:latin typeface="Calibri"/>
              </a:rPr>
              <a:t>No preço do grupo: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Venda em dinheiro: R$ 62,1 mi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Obras e serviços: R$ 6,4 mi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Acordos e indenizações: R$ 18,0 mi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Troca por bens: R$ 9,9 mi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Sócios e família: R$ 7,4 mi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222B27"/>
                </a:solidFill>
                <a:latin typeface="Calibri"/>
              </a:rPr>
              <a:t>Sem destino: </a:t>
            </a:r>
            <a:r>
              <a:rPr sz="1500" b="1" i="0">
                <a:solidFill>
                  <a:srgbClr val="B85A22"/>
                </a:solidFill>
                <a:latin typeface="Calibri"/>
              </a:rPr>
              <a:t>R$ 8,8 mi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F3A2E"/>
                </a:solidFill>
                <a:latin typeface="Cambria"/>
              </a:rPr>
              <a:t>Manter a empresa custa cerca de R$ 333 mil por mês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77272" y="56692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B85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PROVISÓRIO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E6A64"/>
                </a:solidFill>
                <a:latin typeface="Calibri"/>
              </a:rPr>
              <a:t>Rascunho v0 · Parte 4 da SEI · 28/10/2026 · Fonte: relatórios mensais de contas pagas, jul/2023 a out/2024 (15 meses), só a SEI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943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A64"/>
                </a:solidFill>
                <a:latin typeface="Calibri"/>
              </a:rPr>
              <a:t>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6949440" cy="4846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0" y="1463040"/>
            <a:ext cx="3840480" cy="4663440"/>
          </a:xfrm>
          <a:prstGeom prst="roundRect">
            <a:avLst>
              <a:gd name="adj" fmla="val 8000"/>
            </a:avLst>
          </a:prstGeom>
          <a:solidFill>
            <a:srgbClr val="E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645920"/>
            <a:ext cx="3474720" cy="4389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F3A2E"/>
                </a:solidFill>
                <a:latin typeface="Calibri"/>
              </a:rPr>
              <a:t>Total pago pela SEI em 15 meses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R$ 9,88 mi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F3A2E"/>
                </a:solidFill>
                <a:latin typeface="Calibri"/>
              </a:rPr>
              <a:t>Manter a empresa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R$ 5,00 mi ÷ 15 = R$ 333 mil/mês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F3A2E"/>
                </a:solidFill>
                <a:latin typeface="Calibri"/>
              </a:rPr>
              <a:t>Estendido ao período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R$ 333 mil × 84 meses = R$ 28,0 mi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222B27"/>
                </a:solidFill>
                <a:latin typeface="Calibri"/>
              </a:rPr>
              <a:t>Regra aplicada: </a:t>
            </a:r>
            <a:r>
              <a:rPr sz="1500" b="0" i="0">
                <a:solidFill>
                  <a:srgbClr val="222B27"/>
                </a:solidFill>
                <a:latin typeface="Calibri"/>
              </a:rPr>
              <a:t>combustível conta como obra, não como custo fixo.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F3A2E"/>
                </a:solidFill>
                <a:latin typeface="Cambria"/>
              </a:rPr>
              <a:t>A conta, passo a passo, no preço do próprio grupo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77272" y="56692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B85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PROVISÓRIO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E6A64"/>
                </a:solidFill>
                <a:latin typeface="Calibri"/>
              </a:rPr>
              <a:t>Rascunho v0 · Parte 4 da SEI · 28/10/2026 · Fonte: fluxo-caixa-sei-v0.xlsx, aba Ponte (cenário teto = média do grupo em out/2025)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943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A64"/>
                </a:solidFill>
                <a:latin typeface="Calibri"/>
              </a:rPr>
              <a:t>7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25880"/>
          <a:ext cx="1106424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44068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E6A64"/>
                </a:solidFill>
                <a:latin typeface="Calibri"/>
              </a:rPr>
              <a:t>R$ milhões. </a:t>
            </a:r>
            <a:r>
              <a:rPr sz="1500" b="1" i="0">
                <a:solidFill>
                  <a:srgbClr val="222B27"/>
                </a:solidFill>
                <a:latin typeface="Calibri"/>
              </a:rPr>
              <a:t>Resultado: </a:t>
            </a:r>
            <a:r>
              <a:rPr sz="1500" b="1" i="0">
                <a:solidFill>
                  <a:srgbClr val="B85A22"/>
                </a:solidFill>
                <a:latin typeface="Calibri"/>
              </a:rPr>
              <a:t>R$ 26,7 mi</a:t>
            </a:r>
            <a:r>
              <a:rPr sz="1500" b="0" i="0">
                <a:solidFill>
                  <a:srgbClr val="222B27"/>
                </a:solidFill>
                <a:latin typeface="Calibri"/>
              </a:rPr>
              <a:t> sem explicação · 1/6 = R$ 4,4 mi · somando os lotes dados em obras, investimento a demonstrar de R$ 33,1 mi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F3A2E"/>
                </a:solidFill>
                <a:latin typeface="Cambria"/>
              </a:rPr>
              <a:t>O resultado depende do preço de venda, que o grupo não informou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77272" y="56692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B85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PROVISÓRIO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E6A64"/>
                </a:solidFill>
                <a:latin typeface="Calibri"/>
              </a:rPr>
              <a:t>Rascunho v0 · Parte 4 da SEI · 28/10/2026 · Fonte: abas Ponte, Sensibilidade e 8 Preços citados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943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A64"/>
                </a:solidFill>
                <a:latin typeface="Calibri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72237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2103120"/>
                <a:gridCol w="155448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Preço dos lotes</a:t>
                      </a:r>
                    </a:p>
                  </a:txBody>
                  <a:tcPr marL="73152" marR="73152" anchor="ctr"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Valor sem explicação</a:t>
                      </a:r>
                    </a:p>
                  </a:txBody>
                  <a:tcPr marL="73152" marR="73152" anchor="ctr"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1/6</a:t>
                      </a:r>
                    </a:p>
                  </a:txBody>
                  <a:tcPr marL="73152" marR="73152" anchor="ctr">
                    <a:solidFill>
                      <a:srgbClr val="1F3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Valor de 2018 do inventário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−R$ 17,3 mi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Intermediário (pelo ano da venda)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R$ 0,4 mi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R$ 0,1 mi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B27"/>
                          </a:solidFill>
                          <a:latin typeface="Calibri"/>
                        </a:rPr>
                        <a:t>Média do grupo em out/2025</a:t>
                      </a:r>
                    </a:p>
                  </a:txBody>
                  <a:tcPr marL="73152" marR="73152" anchor="ctr">
                    <a:solidFill>
                      <a:srgbClr val="ECF1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222B27"/>
                          </a:solidFill>
                          <a:latin typeface="Calibri"/>
                        </a:rPr>
                        <a:t>R$ 26,7 mi</a:t>
                      </a:r>
                    </a:p>
                  </a:txBody>
                  <a:tcPr marL="73152" marR="73152" anchor="ctr">
                    <a:solidFill>
                      <a:srgbClr val="ECF1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222B27"/>
                          </a:solidFill>
                          <a:latin typeface="Calibri"/>
                        </a:rPr>
                        <a:t>R$ 4,4 mi</a:t>
                      </a:r>
                    </a:p>
                  </a:txBody>
                  <a:tcPr marL="73152" marR="73152" anchor="ctr">
                    <a:solidFill>
                      <a:srgbClr val="ECF1ED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138160" y="1463040"/>
            <a:ext cx="3474720" cy="2011680"/>
          </a:xfrm>
          <a:prstGeom prst="roundRect">
            <a:avLst>
              <a:gd name="adj" fmla="val 8000"/>
            </a:avLst>
          </a:prstGeom>
          <a:solidFill>
            <a:srgbClr val="FA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1600200"/>
            <a:ext cx="310896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B85A22"/>
                </a:solidFill>
                <a:latin typeface="Calibri"/>
              </a:rPr>
              <a:t>Nas dações, o próprio grupo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atribuiu aos lotes 102% da média de 2025 (mediana de 12 lotes; 6 acima dela).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49039"/>
            <a:ext cx="11064240" cy="2468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F3A2E"/>
                </a:solidFill>
                <a:latin typeface="Calibri"/>
              </a:rPr>
              <a:t>Premissas que mudam o número (no preço do grupo):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Contando 72 meses (2019–2024) e sem a concessão de conclusão: R$ 37,7 mi sem explicação.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46 lotes do arquivo 17 saíram além da redução do inventário: até R$ 24,3 mi a mais, se eram da SEI (fora da conta até conferir).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30 lotes saíram em 2025, depois da data-base: voltam ao patrimônio de 31/12/2024 ou o grupo informa o que recebeu (R$ 11,9 mi no preço do grupo).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F3A2E"/>
                </a:solidFill>
                <a:latin typeface="Cambria"/>
              </a:rPr>
              <a:t>Outras entradas, mostradas à parte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77272" y="56692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B85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PROVISÓRIO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E6A64"/>
                </a:solidFill>
                <a:latin typeface="Calibri"/>
              </a:rPr>
              <a:t>Rascunho v0 · Parte 4 da SEI · 28/10/2026 · Fonte: inventário 2018 (aluguéis); docx do Hotel; relatórios mensais; contratos Lorenzet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943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A64"/>
                </a:solidFill>
                <a:latin typeface="Calibri"/>
              </a:rP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46304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A2E"/>
                </a:solidFill>
                <a:latin typeface="Cambria"/>
              </a:rPr>
              <a:t>Aluguéis da SEI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7452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R$ 35 mil/mês na relação de 2018 → R$ 3,0 mi em 84 meses. Entram na conta.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743200"/>
            <a:ext cx="502920" cy="502920"/>
          </a:xfrm>
          <a:prstGeom prst="ellipse">
            <a:avLst/>
          </a:prstGeom>
          <a:solidFill>
            <a:srgbClr val="4E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5176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A2E"/>
                </a:solidFill>
                <a:latin typeface="Cambria"/>
              </a:rPr>
              <a:t>Venda de terras da São Crispin (2018)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06324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Rigo: R$ 9,4 mi em 118.100 sacas de soja, 20.150 por ano até 2022. Pellegrini: R$ 2,1 mi. Não somadas: são do Hotel/São Crispin.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931920"/>
            <a:ext cx="502920" cy="502920"/>
          </a:xfrm>
          <a:prstGeom prst="ellipse">
            <a:avLst/>
          </a:prstGeom>
          <a:solidFill>
            <a:srgbClr val="4E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8404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A2E"/>
                </a:solidFill>
                <a:latin typeface="Cambria"/>
              </a:rPr>
              <a:t>Arrendamento da São Crispin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25196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Família Lorenzet, pago em sacas de soja (contratos 2017–2026). Não somado.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5120640"/>
            <a:ext cx="502920" cy="502920"/>
          </a:xfrm>
          <a:prstGeom prst="ellipse">
            <a:avLst/>
          </a:prstGeom>
          <a:solidFill>
            <a:srgbClr val="B85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02920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A2E"/>
                </a:solidFill>
                <a:latin typeface="Cambria"/>
              </a:rPr>
              <a:t>Soja no caixa da SEI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44068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A SEI paga Funrural e IRPJ da São Crispin sobre soja e usa sacas para comprar a escavadeira. Precisa ser explicado.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F3A2E"/>
                </a:solidFill>
                <a:latin typeface="Cambria"/>
              </a:rPr>
              <a:t>Contratos | Indenizações | Compromissos | Empréstimos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77272" y="56692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B85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PROVISÓRIO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E6A64"/>
                </a:solidFill>
                <a:latin typeface="Calibri"/>
              </a:rPr>
              <a:t>Rascunho v0 · Parte 4 da SEI · 28/10/2026 · Fonte: aba GERAL (Siviero = doc 11, Rafael = Estudo 2); proposta v0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943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A64"/>
                </a:solidFill>
                <a:latin typeface="Calibri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03327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920240"/>
                <a:gridCol w="192024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73152" marR="73152" anchor="ctr"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Siviero</a:t>
                      </a:r>
                    </a:p>
                  </a:txBody>
                  <a:tcPr marL="73152" marR="73152" anchor="ctr"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Rafael</a:t>
                      </a:r>
                    </a:p>
                  </a:txBody>
                  <a:tcPr marL="73152" marR="73152" anchor="ctr"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Proposta v0</a:t>
                      </a:r>
                    </a:p>
                  </a:txBody>
                  <a:tcPr marL="73152" marR="73152" anchor="ctr">
                    <a:solidFill>
                      <a:srgbClr val="1F3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11.2.1 Loteamentos contratados (multas)</a:t>
                      </a:r>
                    </a:p>
                  </a:txBody>
                  <a:tcPr marL="73152" marR="73152" anchor="ctr">
                    <a:solidFill>
                      <a:srgbClr val="FAEE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−R$ 15,8 mi</a:t>
                      </a:r>
                    </a:p>
                  </a:txBody>
                  <a:tcPr marL="73152" marR="73152" anchor="ctr">
                    <a:solidFill>
                      <a:srgbClr val="FAEE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R$ 18,4 mi</a:t>
                      </a:r>
                    </a:p>
                  </a:txBody>
                  <a:tcPr marL="73152" marR="73152" anchor="ctr">
                    <a:solidFill>
                      <a:srgbClr val="FAEE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R$ 0,0 mi</a:t>
                      </a:r>
                    </a:p>
                  </a:txBody>
                  <a:tcPr marL="73152" marR="73152" anchor="ctr">
                    <a:solidFill>
                      <a:srgbClr val="FAEE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11.2.2 Lotes de terceiros indenizáveis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−R$ 16,2 mi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−R$ 16,2 mi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−R$ 16,2 mi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11.2.3 Obras finais a pagar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−R$ 3,8 mi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−R$ 3,8 mi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−R$ 3,8 mi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11.2.4 Demais compromissos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−R$ 13,8 mi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−R$ 16,1 mi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−R$ 13,8 mi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11.2.5 Empréstimos e financiamentos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−R$ 2,4 mi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incl. 11.2.4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−R$ 2,4 mi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Investimento a demonstrar (sem explicação)</a:t>
                      </a:r>
                    </a:p>
                  </a:txBody>
                  <a:tcPr marL="73152" marR="73152" anchor="ctr">
                    <a:solidFill>
                      <a:srgbClr val="FAEE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R$ 0,0 mi</a:t>
                      </a:r>
                    </a:p>
                  </a:txBody>
                  <a:tcPr marL="73152" marR="73152" anchor="ctr">
                    <a:solidFill>
                      <a:srgbClr val="FAEE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anchor="ctr">
                    <a:solidFill>
                      <a:srgbClr val="FAEE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R$ 26,7 mi</a:t>
                      </a:r>
                    </a:p>
                  </a:txBody>
                  <a:tcPr marL="73152" marR="73152" anchor="ctr">
                    <a:solidFill>
                      <a:srgbClr val="FAEE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B27"/>
                          </a:solidFill>
                          <a:latin typeface="Calibri"/>
                        </a:rPr>
                        <a:t>Total do tópico</a:t>
                      </a:r>
                    </a:p>
                  </a:txBody>
                  <a:tcPr marL="73152" marR="73152" anchor="ctr">
                    <a:solidFill>
                      <a:srgbClr val="ECF1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222B27"/>
                          </a:solidFill>
                          <a:latin typeface="Calibri"/>
                        </a:rPr>
                        <a:t>−R$ 51,9 mi</a:t>
                      </a:r>
                    </a:p>
                  </a:txBody>
                  <a:tcPr marL="73152" marR="73152" anchor="ctr">
                    <a:solidFill>
                      <a:srgbClr val="ECF1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222B27"/>
                          </a:solidFill>
                          <a:latin typeface="Calibri"/>
                        </a:rPr>
                        <a:t>−R$ 17,8 mi</a:t>
                      </a:r>
                    </a:p>
                  </a:txBody>
                  <a:tcPr marL="73152" marR="73152" anchor="ctr">
                    <a:solidFill>
                      <a:srgbClr val="ECF1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222B27"/>
                          </a:solidFill>
                          <a:latin typeface="Calibri"/>
                        </a:rPr>
                        <a:t>−R$ 9,5 mi</a:t>
                      </a:r>
                    </a:p>
                  </a:txBody>
                  <a:tcPr marL="73152" marR="73152" anchor="ctr">
                    <a:solidFill>
                      <a:srgbClr val="ECF1E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166360"/>
            <a:ext cx="1106424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22B27"/>
                </a:solidFill>
                <a:latin typeface="Calibri"/>
              </a:rPr>
              <a:t>Multa rescisória: </a:t>
            </a:r>
            <a:r>
              <a:rPr sz="1400" b="0" i="0">
                <a:solidFill>
                  <a:srgbClr val="222B27"/>
                </a:solidFill>
                <a:latin typeface="Calibri"/>
              </a:rPr>
              <a:t>não aceita enquanto os contratos estiverem vigentes. Aceita só com distrato assinado e termo de que a empresa nunca mais loteará a gleba; nesse caso, os investimentos nela não são cobrados, mas precisam ser demonstrados.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F3A2E"/>
                </a:solidFill>
                <a:latin typeface="Cambria"/>
              </a:rPr>
              <a:t>O que pedimos ao grupo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77272" y="56692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B85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PROVISÓRIO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E6A64"/>
                </a:solidFill>
                <a:latin typeface="Calibri"/>
              </a:rPr>
              <a:t>Rascunho v0 · Parte 4 da SEI · 28/10/2026 · Fonte: proposta v0, sujeita à aprovação do Luís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943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A64"/>
                </a:solidFill>
                <a:latin typeface="Calibr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394960" cy="2148840"/>
          </a:xfrm>
          <a:prstGeom prst="roundRect">
            <a:avLst>
              <a:gd name="adj" fmla="val 8000"/>
            </a:avLst>
          </a:prstGeom>
          <a:solidFill>
            <a:srgbClr val="E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664208"/>
            <a:ext cx="42976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F3A2E"/>
                </a:solidFill>
                <a:latin typeface="Cambria"/>
              </a:rPr>
              <a:t>Valores reais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40280"/>
            <a:ext cx="429768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Preço e recebimento de cada lote vendido de 2018 a 2024, e o investimento feito em cada loteamento não finalizado.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63040"/>
            <a:ext cx="5394960" cy="2148840"/>
          </a:xfrm>
          <a:prstGeom prst="roundRect">
            <a:avLst>
              <a:gd name="adj" fmla="val 8000"/>
            </a:avLst>
          </a:prstGeom>
          <a:solidFill>
            <a:srgbClr val="E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0" y="1691640"/>
            <a:ext cx="502920" cy="502920"/>
          </a:xfrm>
          <a:prstGeom prst="ellipse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664208"/>
            <a:ext cx="42976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F3A2E"/>
                </a:solidFill>
                <a:latin typeface="Cambria"/>
              </a:rPr>
              <a:t>Ou a devolução de 1/6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240280"/>
            <a:ext cx="429768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Sem esses valores: 1/6 do que não tem explicação, R$ 4,4 mi no preço do próprio grupo.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40480"/>
            <a:ext cx="5394960" cy="2148840"/>
          </a:xfrm>
          <a:prstGeom prst="roundRect">
            <a:avLst>
              <a:gd name="adj" fmla="val 8000"/>
            </a:avLst>
          </a:prstGeom>
          <a:solidFill>
            <a:srgbClr val="E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4069080"/>
            <a:ext cx="502920" cy="502920"/>
          </a:xfrm>
          <a:prstGeom prst="ellipse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041648"/>
            <a:ext cx="42976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F3A2E"/>
                </a:solidFill>
                <a:latin typeface="Cambria"/>
              </a:rPr>
              <a:t>Multas só com distrato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617720"/>
            <a:ext cx="429768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Distrato assinado e termo de nunca mais lotear a gleba. Novo contrato depois da cisão seria tratado como fraude.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840480"/>
            <a:ext cx="5394960" cy="2148840"/>
          </a:xfrm>
          <a:prstGeom prst="roundRect">
            <a:avLst>
              <a:gd name="adj" fmla="val 8000"/>
            </a:avLst>
          </a:prstGeom>
          <a:solidFill>
            <a:srgbClr val="E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0" y="4069080"/>
            <a:ext cx="502920" cy="502920"/>
          </a:xfrm>
          <a:prstGeom prst="ellipse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4041648"/>
            <a:ext cx="42976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F3A2E"/>
                </a:solidFill>
                <a:latin typeface="Cambria"/>
              </a:rPr>
              <a:t>Lotes de 2025 e lotes a mais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4617720"/>
            <a:ext cx="429768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Os 30 lotes vendidos em 2025 voltam à data-base; os 46 lotes a mais do arquivo 17 precisam de explicação.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F3A2E"/>
                </a:solidFill>
                <a:latin typeface="Cambria"/>
              </a:rPr>
              <a:t>Limites deste rascunho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77272" y="56692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B85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PROVISÓRIO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E6A64"/>
                </a:solidFill>
                <a:latin typeface="Calibri"/>
              </a:rPr>
              <a:t>Rascunho v0 · Parte 4 da SEI · 28/10/2026 · Fonte: aba Pendências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943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A64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F3A2E"/>
                </a:solidFill>
                <a:latin typeface="Calibri"/>
              </a:rPr>
              <a:t>Premissas a aprovar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222B27"/>
                </a:solidFill>
                <a:latin typeface="Calibri"/>
              </a:rPr>
              <a:t>Os 15 meses de relatórios representam os 84 meses do período; o preço de referência é a média do grupo de 2025.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F3A2E"/>
                </a:solidFill>
                <a:latin typeface="Calibri"/>
              </a:rPr>
              <a:t>Materiais ainda em edição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222B27"/>
                </a:solidFill>
                <a:latin typeface="Calibri"/>
              </a:rPr>
              <a:t>Classificação das contas pagas (dúvidas sem resposta); achados da análise do ACERTOS E ACORDOS; levantamento ambiental (lotes de terceiros); soja e terras da São Crispin.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F3A2E"/>
                </a:solidFill>
                <a:latin typeface="Calibri"/>
              </a:rPr>
              <a:t>Escolhas a favor do grupo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222B27"/>
                </a:solidFill>
                <a:latin typeface="Calibri"/>
              </a:rPr>
              <a:t>Concessão de R$ 7,5 mi para concluir loteamentos; bens novos tratados como comprados em dinheiro; dívidas de 2018 ausentes em 2025 tratadas como pagas. Corrigir isso só aumenta o valor sem explicação.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F3A2E"/>
                </a:solidFill>
                <a:latin typeface="Calibri"/>
              </a:rPr>
              <a:t>Classificação das saídas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222B27"/>
                </a:solidFill>
                <a:latin typeface="Calibri"/>
              </a:rPr>
              <a:t>Feita por palavras-chave no texto do arquivo 17; a lista lote a lote está na planilha para conferência.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SEI — para onde foi o dinheiro dos lotes (rascunho v0)</dc:title>
  <dc:subject/>
  <dc:creator>Luís Siviero (rascunho)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