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 sz="1400" b="1">
                <a:solidFill>
                  <a:srgbClr val="222B27"/>
                </a:solidFill>
                <a:latin typeface="Calibri"/>
              </a:rPr>
              <a:t>Bens da SEI por bloco (R$ milhões)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Grupo</c:v>
                </c:pt>
              </c:strCache>
            </c:strRef>
          </c:tx>
          <c:spPr>
            <a:solidFill>
              <a:srgbClr val="1F3A2E"/>
            </a:solidFill>
          </c:spPr>
          <c:invertIfNegative val="1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222B27"/>
                    </a:solidFill>
                    <a:latin typeface="Calibr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Loteamentos</c:v>
                </c:pt>
                <c:pt idx="1">
                  <c:v>Áreas urbanas</c:v>
                </c:pt>
                <c:pt idx="2">
                  <c:v>Áreas rurais</c:v>
                </c:pt>
                <c:pt idx="3">
                  <c:v>Lotes urbanos</c:v>
                </c:pt>
                <c:pt idx="4">
                  <c:v>Máquinas</c:v>
                </c:pt>
                <c:pt idx="5">
                  <c:v>Veículos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111.18</c:v>
                </c:pt>
                <c:pt idx="1">
                  <c:v>26.93</c:v>
                </c:pt>
                <c:pt idx="2">
                  <c:v>7.66</c:v>
                </c:pt>
                <c:pt idx="3">
                  <c:v>3.29</c:v>
                </c:pt>
                <c:pt idx="4">
                  <c:v>2.52</c:v>
                </c:pt>
                <c:pt idx="5">
                  <c:v>1.22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415-491C-BBF8-3CBCC8C0A5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Adotado</c:v>
                </c:pt>
              </c:strCache>
            </c:strRef>
          </c:tx>
          <c:spPr>
            <a:solidFill>
              <a:srgbClr val="9CBFA7"/>
            </a:solidFill>
          </c:spPr>
          <c:invertIfNegative val="1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222B27"/>
                    </a:solidFill>
                    <a:latin typeface="Calibr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Loteamentos</c:v>
                </c:pt>
                <c:pt idx="1">
                  <c:v>Áreas urbanas</c:v>
                </c:pt>
                <c:pt idx="2">
                  <c:v>Áreas rurais</c:v>
                </c:pt>
                <c:pt idx="3">
                  <c:v>Lotes urbanos</c:v>
                </c:pt>
                <c:pt idx="4">
                  <c:v>Máquinas</c:v>
                </c:pt>
                <c:pt idx="5">
                  <c:v>Veículos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112.33</c:v>
                </c:pt>
                <c:pt idx="1">
                  <c:v>23.93</c:v>
                </c:pt>
                <c:pt idx="2">
                  <c:v>10.92</c:v>
                </c:pt>
                <c:pt idx="3">
                  <c:v>3.51</c:v>
                </c:pt>
                <c:pt idx="4">
                  <c:v>2.0699999999999998</c:v>
                </c:pt>
                <c:pt idx="5">
                  <c:v>1.22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415-491C-BBF8-3CBCC8C0A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C8C3"/>
            </a:solidFill>
          </a:ln>
        </c:spPr>
        <c:txPr>
          <a:bodyPr/>
          <a:lstStyle/>
          <a:p>
            <a:pPr>
              <a:defRPr sz="1200">
                <a:latin typeface="Calibr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latin typeface="Calibri"/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RASCUNHO — ESBOÇO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Cisão do grupo Siviero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C9DBCF"/>
                </a:solidFill>
                <a:latin typeface="Cambria"/>
              </a:rPr>
              <a:t>O ponto de vista do Luís, sócio de 1/6 que está saindo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Versão de trabalho de 28/10/2026, feita a partir do material técnico em andamento.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Números marcados como PROVISÓRIO ainda têm pendência e podem mudar.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Contexto: uma cisão e duas avaliações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00_PLANO.md (premissas P1 e P2, seção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3749039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737360"/>
            <a:ext cx="685800" cy="68580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E"/>
                </a:solidFill>
                <a:latin typeface="Cambria"/>
              </a:rPr>
              <a:t>A quota do Luís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00400"/>
            <a:ext cx="30175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O Luís tem 1/6 do grupo e está saindo pela cisão. Toda conta usa 1/6 em todas as empresas, e não os percentuais dos quadros societários.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474720" cy="3749039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1999" y="1737360"/>
            <a:ext cx="685800" cy="68580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606040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E"/>
                </a:solidFill>
                <a:latin typeface="Cambria"/>
              </a:rPr>
              <a:t>Inventário do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200400"/>
            <a:ext cx="30175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Feito pelos demais sócios, com data-base em 31.12.2024. Um documento por empresa; o documento 11 é a SEI, Siviero Empreendimentos Imobiliários.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474720" cy="3749039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21040" y="1737360"/>
            <a:ext cx="685800" cy="68580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E"/>
                </a:solidFill>
                <a:latin typeface="Cambria"/>
              </a:rPr>
              <a:t>Estudo de Rafael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30175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Rafael, outro sócio que sai, apresentou o Estudo 2 (documentos assinados BELISE LTDA, de set/2026), com avaliações de mercado de parte dos bens.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2E"/>
                </a:solidFill>
                <a:latin typeface="Calibri"/>
              </a:rPr>
              <a:t>A pergunta deste trabalho: </a:t>
            </a:r>
            <a:r>
              <a:rPr sz="1700" b="0" i="0">
                <a:solidFill>
                  <a:srgbClr val="222B27"/>
                </a:solidFill>
                <a:latin typeface="Calibri"/>
              </a:rPr>
              <a:t>para cada bem, qual dos dois valores existentes é tecnicamente defensável, e o que ainda falta esclarecer.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Como o estudo foi feito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00_PLANO.md, premissas P2, P3, P5 e P11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9966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E"/>
                </a:solidFill>
                <a:latin typeface="Cambria"/>
              </a:rPr>
              <a:t>2018 é a referência do patrimônio entregue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9669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O inventário de 31.12.2018 mostra o patrimônio como ele foi entregue pela administração anterior. Serve para conferir se cada bem ainda existe ou tem destino documentado, não para dar valor.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966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E"/>
                </a:solidFill>
                <a:latin typeface="Cambria"/>
              </a:rPr>
              <a:t>Data-base em 31.12.2024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99669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Fatos posteriores (compras, vendas, avaliações de 2025 e 2026) são registrados um a um. Nada é ajustado em silêncio. Até agora só um tem tratamento decidido (o trator); os demais estão pendentes.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94760"/>
            <a:ext cx="9966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E"/>
                </a:solidFill>
                <a:latin typeface="Cambria"/>
              </a:rPr>
              <a:t>Sem avaliação própria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06240"/>
            <a:ext cx="99669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Para cada bem adota-se um dos dois valores que já existem, o do grupo ou o de Rafael, com o argumento técnico registrado, por exemplo a faixa de mercado do próprio Rafael.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29200"/>
            <a:ext cx="9966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A2E"/>
                </a:solidFill>
                <a:latin typeface="Cambria"/>
              </a:rPr>
              <a:t>Revisão independente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40680"/>
            <a:ext cx="99669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Desde 28/10/2026, cada pacote passa por um revisor com contexto novo antes de chegar ao Luís. Os pacotes 1 a 3 foram revisados depois de aprovados, e a revisão levou a duas correções.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As 7 partes do estudo e a situação de cada uma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00_PLANO.md, seções 4 e 7 (estado em 28/10/2026)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64240" cy="4535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Parte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 que analisa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Situação em 28/10/2026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Fontes, extrações de 2018 e 2025, planilha-mestre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Concluída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SEI: onde as duas avaliações concordam e discordam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Pacotes 1 a 4 aprovados; falta a regra única de “possível APP” e o fechamento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SEI: contratos, indenizações, compromissos e destino de cada bem que saiu desde 2018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Não iniciada; depende da explicação do método pelo Luís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Assuntos não abordados (por exemplo, loteamentos contratados)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Descontos em duplicidade e dupla contagem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Não iniciada; 5 suspeitas já listadas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Observações do Luís nas planilhas Google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1 e 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Demais empresas: concorda × discorda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Começando agora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SEI: os números gerais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planilha-mestre-sei.xlsx, abas Resumo e Mestre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931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A2E"/>
                </a:solidFill>
                <a:latin typeface="Cambria"/>
              </a:rPr>
              <a:t>R$ 152,80 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84248"/>
            <a:ext cx="3931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E6A64"/>
                </a:solidFill>
                <a:latin typeface="Calibri"/>
              </a:rPr>
              <a:t>bens de 2025 pelo inventário do grupo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931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4E7A5E"/>
                </a:solidFill>
                <a:latin typeface="Cambria"/>
              </a:rPr>
              <a:t>R$ 153,97 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10128"/>
            <a:ext cx="3931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E6A64"/>
                </a:solidFill>
                <a:latin typeface="Calibri"/>
              </a:rPr>
              <a:t>soma dos valores adotados até agora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3931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B85A22"/>
                </a:solidFill>
                <a:latin typeface="Cambria"/>
              </a:rPr>
              <a:t>+ R$ 1,17 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36007"/>
            <a:ext cx="3931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E6A64"/>
                </a:solidFill>
                <a:latin typeface="Calibri"/>
              </a:rPr>
              <a:t>diferença: adotado menos grupo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754880" y="1234440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3035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330952"/>
            <a:ext cx="1069848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85A22"/>
                </a:solidFill>
                <a:latin typeface="Calibri"/>
              </a:rPr>
              <a:t>Ainda sem valor adotado: </a:t>
            </a:r>
            <a:r>
              <a:rPr sz="1400" b="0" i="0">
                <a:solidFill>
                  <a:srgbClr val="222B27"/>
                </a:solidFill>
                <a:latin typeface="Calibri"/>
              </a:rPr>
              <a:t>Fracionamento Simioni e 7 loteamentos contratados (Parte 5). </a:t>
            </a:r>
            <a:r>
              <a:rPr sz="1400" b="1" i="0">
                <a:solidFill>
                  <a:srgbClr val="B85A22"/>
                </a:solidFill>
                <a:latin typeface="Calibri"/>
              </a:rPr>
              <a:t>Fora do total: </a:t>
            </a:r>
            <a:r>
              <a:rPr sz="1400" b="0" i="0">
                <a:solidFill>
                  <a:srgbClr val="222B27"/>
                </a:solidFill>
                <a:latin typeface="Calibri"/>
              </a:rPr>
              <a:t>7 lotes em “possível APP” e 6 lotes “FAMÍLIA SIVIERO”. </a:t>
            </a:r>
            <a:r>
              <a:rPr sz="1400" b="1" i="0">
                <a:solidFill>
                  <a:srgbClr val="B85A22"/>
                </a:solidFill>
                <a:latin typeface="Calibri"/>
              </a:rPr>
              <a:t>Sem decisão lote a lote: </a:t>
            </a:r>
            <a:r>
              <a:rPr sz="1400" b="0" i="0">
                <a:solidFill>
                  <a:srgbClr val="222B27"/>
                </a:solidFill>
                <a:latin typeface="Calibri"/>
              </a:rPr>
              <a:t>26 lotes de terceiros e 8 do acerto Rovílio (Parte 4). São só os bens; compromissos e passivos ficam para a Parte 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SEI: onde os dois valores são iguais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log-decisoes.md, pacote 1 (regras R1, R2 e R3)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3017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E"/>
                </a:solidFill>
                <a:latin typeface="Cambria"/>
              </a:rPr>
              <a:t>R$ 103,46 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22B27"/>
                </a:solidFill>
                <a:latin typeface="Calibri"/>
              </a:rPr>
              <a:t>395 lotes em 28 loteamentos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301752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Mesmo valor nas duas fontes. A soma dos lotes confere com o total de cada loteamento.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1999" y="1554480"/>
            <a:ext cx="3017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E"/>
                </a:solidFill>
                <a:latin typeface="Cambria"/>
              </a:rPr>
              <a:t>R$ 8,56 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22B27"/>
                </a:solidFill>
                <a:latin typeface="Calibri"/>
              </a:rPr>
              <a:t>12 bens fora de loteamento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697480"/>
            <a:ext cx="301752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Mesmo valor nas duas: 6 lotes urbanos, 5 áreas rurais e a Ford Ranger.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37160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017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3A2E"/>
                </a:solidFill>
                <a:latin typeface="Cambria"/>
              </a:rPr>
              <a:t>R$ 16,52 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22B27"/>
                </a:solidFill>
                <a:latin typeface="Calibri"/>
              </a:rPr>
              <a:t>30 bens avaliados só pelo 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01752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Veículos, máquinas e 3 áreas urbanas, que o estudo de Rafael para a SEI não avalia: adota-se o valor do grupo.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2E"/>
                </a:solidFill>
                <a:latin typeface="Calibri"/>
              </a:rPr>
              <a:t>R$ 128,53 mi de R$ 152,80 mi (84%): </a:t>
            </a:r>
            <a:r>
              <a:rPr sz="1700" b="0" i="0">
                <a:solidFill>
                  <a:srgbClr val="222B27"/>
                </a:solidFill>
                <a:latin typeface="Calibri"/>
              </a:rPr>
              <a:t>resolvidos em bloco, por valor igual ou avaliação única.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110642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A64"/>
                </a:solidFill>
                <a:latin typeface="Calibri"/>
              </a:rPr>
              <a:t>Ressalvas: em alguns itens o valor de Rafael repete o balanço do grupo, e ele anota que fica abaixo da sua faixa de mercado. Área rural 06 (6.700 m² a mais nas parcelas), área rural 10 (conferir com as áreas contratadas), lote urbano 04 (hipoteca à Receita). Terrenos da BR-470 e da serraria, e a escavadeira 320D: dupla contagem, na Parte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SEI: principais divergências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log-decisoes.md, pacote 2; planilha-mestre-sei.xlsx, aba Mestre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4480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Bem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Rafael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Adotado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Argumento registrado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Imóvel Oleoplan, BR-470</a:t>
                      </a:r>
                    </a:p>
                  </a:txBody>
                  <a:tcPr marL="73152" marR="73152" marT="36576" marB="36576" anchor="ctr">
                    <a:solidFill>
                      <a:srgbClr val="FAEE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R$ 13.631.378,60</a:t>
                      </a:r>
                    </a:p>
                  </a:txBody>
                  <a:tcPr marL="73152" marR="73152" marT="36576" marB="36576" anchor="ctr">
                    <a:solidFill>
                      <a:srgbClr val="FAEE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R$ 10.631.378,60</a:t>
                      </a:r>
                    </a:p>
                  </a:txBody>
                  <a:tcPr marL="73152" marR="73152" marT="36576" marB="36576" anchor="ctr">
                    <a:solidFill>
                      <a:srgbClr val="FAEE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R$ 10.631.378,60</a:t>
                      </a:r>
                    </a:p>
                  </a:txBody>
                  <a:tcPr marL="73152" marR="73152" marT="36576" marB="36576" anchor="ctr">
                    <a:solidFill>
                      <a:srgbClr val="FA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Valor declarado por Rafael. Ponto fraco: as parcelas que ele mesmo descreve somam R$ 13,63 mi; a diferença de R$ 3 mi parece erro de soma.</a:t>
                      </a:r>
                    </a:p>
                  </a:txBody>
                  <a:tcPr marL="73152" marR="73152" marT="36576" marB="36576" anchor="ctr">
                    <a:solidFill>
                      <a:srgbClr val="FA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Lago Negro, 5 lotes da quadra 01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R$ 4.021.000,00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R$ 5.500.000,00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R$ 5.170.000,00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Valor adotado entre o do grupo e o de Rafael. Rafael cita lotes no mercado a partir de R$ 1,13 mi (p. 79).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Casa da Nona, lote urbano 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R$ 250.000,00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R$ 450.000,00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R$ 450.000,00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Topo da faixa de mercado do próprio Rafael: R$ 220 mil a R$ 450 mil (p. 3).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Ouro Verde II, lote urbano 07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R$ 130.000,00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R$ 150.000,00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R$ 150.000,00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Valor do grupo abaixo do piso de Rafael (R$ 135 mil); comparáveis de R$ 152 mil a R$ 166 mil (p. 8 e 9).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Trator de esteira D6N XL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R$ 450.000,00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não avalia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R$ 0,00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Comprado em set/2025, depois da data-base. A dívida de R$ 320 mil também sai: efeito líquido de menos R$ 130 mil.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A64"/>
                </a:solidFill>
                <a:latin typeface="Calibri"/>
              </a:rPr>
              <a:t>Áreas rurais: ver o próximo slide. Linha destacada: valor aprovado, mas sem argumento técnico forte e com risco de contestação.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SEI: as 7 áreas rurais com valores diferentes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log-decisoes.md, pacote 3 (páginas do estudo de Rafael)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8961120" cy="411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Área rural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Rafael (adotado)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Faixa de mercado de Rafael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03, lote 14, 7,5 ha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R$ 220.000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R$ 375.000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R$ 320.000 a 550.000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04, lote 12, 13 ha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R$ 520.000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R$ 650.000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R$ 550.000 a 850.000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05, lote B, 1,8 ha, gleba urbana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R$ 1.000.000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R$ 1.800.000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R$ 1.800.000 a 9.000.000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08, lote 89, 27,8 ha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R$ 250.200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R$ 1.500.000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R$ 1.100.000 a 1.950.000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09, lote 33, mato nativo, 15,1 ha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R$ 40.000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R$ 250.000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R$ 180.000 a 350.000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11, lote 47, 7,5 ha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R$ 20.000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R$ 380.000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R$ 250.000 a 1.200.000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12, lote 47, 7,5 ha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R$ 30.000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R$ 380.000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R$ 250.000 a 1.200.000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Total das 7 áreas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R$ 2.080.200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R$ 5.335.000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738360" y="1280160"/>
            <a:ext cx="1874519" cy="411480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0" y="1417320"/>
            <a:ext cx="1645920" cy="3931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A2E"/>
                </a:solidFill>
                <a:latin typeface="Calibri"/>
              </a:rPr>
              <a:t>Argumento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Em todas, o valor do grupo fica abaixo do piso da faixa de mercado de Rafael.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Nas áreas 09, 11 e 12, fica abaixo até do valor fiscal da terra nua (VTN da Receita Federal).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A64"/>
                </a:solidFill>
                <a:latin typeface="Calibri"/>
              </a:rPr>
              <a:t>Ressalvas: Rafael usa um único texto para as áreas 11 e 12. Área 04: pergunta 7 ao grupo (matrícula). Áreas 04, 08 e 09 estavam em 2018 no inventário da Agropecuária.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SEI: bens de 2018 que não aparecem em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planilha-mestre-sei.xlsx, abas Mestre e Loteamentos 2018x2025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2918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F3A2E"/>
                </a:solidFill>
                <a:latin typeface="Cambria"/>
              </a:rPr>
              <a:t>26 bens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291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existiam em 2018 e não têm par no inventário de 2025, somando R$ 6,05 mi pelos valores de 2018.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32918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B85A22"/>
                </a:solidFill>
                <a:latin typeface="Cambria"/>
              </a:rPr>
              <a:t>6 bens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3291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sem destino documentado até agora, R$ 1,34 mi pelos valores de 2018.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06240" y="1325880"/>
          <a:ext cx="7406640" cy="25237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Sem destino documentado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Valor 2018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Lote 1543, BR-470 (Bissani)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R$ 900.000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Apartamento 303, Edifício Boa Esperança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R$ 100.000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2 lotes urbanos em Bento Gonçalves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R$ 200.000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Lote urbano na Rua Fioravante Boff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R$ 70.000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Lote 0024 (Santa Rita)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R$ 70.000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206240" y="4023360"/>
            <a:ext cx="74066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Dos outros 20, 3 têm situação anotada (2 lotes já vendidos em 2018 e móveis fora de escopo). Os 17 restantes (8 loteamentos com saldo, 3 em execução, 5 veículos e uma máquina roubada) ainda não foram pesquisados: é tarefa da Parte 4, não iniciada. As perguntas 5 e 9 ao grupo pedem o destino dos bens sem documento.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A2E"/>
                </a:solidFill>
                <a:latin typeface="Calibri"/>
              </a:rPr>
              <a:t>Além disso, </a:t>
            </a:r>
            <a:r>
              <a:rPr sz="1400" b="0" i="0">
                <a:solidFill>
                  <a:srgbClr val="222B27"/>
                </a:solidFill>
                <a:latin typeface="Calibri"/>
              </a:rPr>
              <a:t>vários loteamentos têm menos lotes em 2025 do que em 2018: Alto das Graças I, de 51 para 14; Altos da Julieta, de 40 para 10; Lago Negro, de 35 para 12. O destino de cada lote que saiu também é apurado na Parte 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SEI: bens em outra empresa ou em duas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planilha-mestre-sei.xlsx, aba Mestre; parte6-candidatos-duplicidade.md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4251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Bem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Em 2018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Em 2025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 que verificar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Sede Campestre (mat. 1.941 e 7.104)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Na lista da SEI, como bem de outra empresa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Hotel Princesa dos Vales, R$ 5.560.857,50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Que entra uma vez só no total do grupo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Área rural lote 52, Bassani (mat. 7.391)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Na lista da SEI, como bem de outra empresa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Hotel Princesa dos Vales, R$ 422.800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Idem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Terrenos da BR-470, da antiga serraria e ao lado da Oleoplan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Na lista da SEI, como bens da Rádio e da Oficina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No total da SEI, R$ 25.729.394,60 pelo valor do grupo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Se também constam no inventário da Rádio ou de outra empresa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Áreas rurais 04, 08 e 09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Fora do total da SEI, no inventário da Agropecuária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No total da SEI, R$ 2.400.000 pelo valor adotado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Se também constam em outra empresa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Escavadeira Caterpillar 320D, 2009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A SEI já tinha uma 320D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Na SEI, R$ 200.000; no estudo de Rafael para a Ceval, R$ 240.000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Se é a mesma máquina contada duas vezes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Área rural lotes 24 e 24/E (Pierozan)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Na lista da SEI, como bem de outra empresa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Vendida em 2018 a Angeli, R$ 510.000 à vista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27"/>
                          </a:solidFill>
                          <a:latin typeface="Calibri"/>
                        </a:rPr>
                        <a:t>O recebimento (Parte 4)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E6A64"/>
                </a:solidFill>
                <a:latin typeface="Calibri"/>
              </a:rPr>
              <a:t>Risco: o mesmo bem contado em duas empresas infla o patrimônio. A verificação é feita na Parte 6, depois do estudo das demais empresas.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Em aberto: loteamentos contratados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log-decisoes.md; planilha-mestre-sei.xlsx, aba Mestre, linhas 86 a 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023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B85A22"/>
                </a:solidFill>
                <a:latin typeface="Cambria"/>
              </a:rPr>
              <a:t>até R$ 34 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402336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é o valor de ativo que Rafael atribui a 7 loteamentos contratados.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O inventário do grupo não lhes dá valor de ativo e lança multas e despesas: R$ 15,75 mi negativos no total dos contratados.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280160"/>
          <a:ext cx="6675120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Loteamento contratado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Valor segundo Rafael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Cecconello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R$ 9.165.000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Caminhos do Sol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R$ 8.601.000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Vale das Colinas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R$ 5.019.600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Vista da Colina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R$ 3.384.000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Pedrotti, Andreis e Lorandi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R$ 3.384.000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Bonetto (Rafael mantém a multa de R$ 782 mil)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R$ 3.111.000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Pasqual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R$ 1.479.000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B27"/>
                          </a:solidFill>
                          <a:latin typeface="Calibri"/>
                        </a:rPr>
                        <a:t>R$ 34.143.600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85A22"/>
                </a:solidFill>
                <a:latin typeface="Calibri"/>
              </a:rPr>
              <a:t>Dr. Letti e Sol Nascente III: </a:t>
            </a:r>
            <a:r>
              <a:rPr sz="1400" b="0" i="0">
                <a:solidFill>
                  <a:srgbClr val="222B27"/>
                </a:solidFill>
                <a:latin typeface="Calibri"/>
              </a:rPr>
              <a:t>Rafael avalia em zero; o grupo lança multas de R$ 1,65 mi e R$ 1,058 mi.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Decisão pendente: uma regra única para todos, na Parte 5. Uma das áreas rurais (2 ha, R$ 600 mil) fica dentro do Cecconello: conferir dupla contagem.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Em aberto: APP, Simioni e “FAMÍLIA SIVIERO”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log-decisoes.md; perguntas-ao-grupo.md; parte6-candidatos-duplicidade.md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4983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2E"/>
                </a:solidFill>
                <a:latin typeface="Cambria"/>
              </a:rPr>
              <a:t>Lago Negro: 7 lotes de APP confirmada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98348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Valor zero. Há decisão do Ministério Público acatada pela juíza. No estudo de Rafael, esses lotes aparecem com diferença de R$ 7,7 mi a favor do lado que sai. A empresa já deu 2 lotes em dação como indenização: possível desconto duplo (Parte 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983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85A22"/>
                </a:solidFill>
                <a:latin typeface="Cambria"/>
              </a:rPr>
              <a:t>7 lotes em “possível APP”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98348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Em San Marino, Firminio Dalzóchio, Primavera e Industrial Vicentino. O grupo lista R$ 2,32 mi, fora do total. Valor a definir como % do lote cheio, com uma regra única, salvo documento que justifique outra. Pergunta 2 ao grupo.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4983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85A22"/>
                </a:solidFill>
                <a:latin typeface="Cambria"/>
              </a:rPr>
              <a:t>Fracionamento Simioni: 4 lotes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498348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Em 2018 valiam R$ 1,0 mi (R$ 250 mil cada), com o mesmo texto de restrição. Em 2025 aparecem como APP e sem valor, sem processo citado. Rafael: R$ 520 mil. Reaberto.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4983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85A22"/>
                </a:solidFill>
                <a:latin typeface="Cambria"/>
              </a:rPr>
              <a:t>6 lotes “FAMÍLIA SIVIERO”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498348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Loteamento Salvador, quadra 05, sem valor no inventário. Os vizinhos da quadra valem de R$ 374 mil a R$ 387 mil, cerca de R$ 2,29 mi no total. Pergunta 1 ao grupo.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Perguntas ao grupo: 10 aprovadas, nenhuma enviada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perguntas-ao-grupo.md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13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53312"/>
            <a:ext cx="48463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A quem se destinam os 6 lotes “FAMÍLIA SIVIERO” e por que estão sem valor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313432"/>
            <a:ext cx="457200" cy="45720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49424"/>
            <a:ext cx="48463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Situação do processo ou laudo de cada lote em “possível APP”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9544"/>
            <a:ext cx="457200" cy="45720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45536"/>
            <a:ext cx="48463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Cadeia de matrículas da área rural 02 e o aumento de 3,6 para 4,0 ha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05655"/>
            <a:ext cx="457200" cy="45720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41648"/>
            <a:ext cx="48463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Cadeia de matrículas da área rural 06 (Ansolin) e área da parcela Frainer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01768"/>
            <a:ext cx="457200" cy="45720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37760"/>
            <a:ext cx="48463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Destino, data e valor do lote 1543, BR-470 (Bissani)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353312"/>
            <a:ext cx="48463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Destino do lote de Michelle Tedesco, que saiu entre as versões de 2025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2313432"/>
            <a:ext cx="457200" cy="45720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49424"/>
            <a:ext cx="48463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Matrícula 3.062, lote 12 (Sangali): possível dupla contagem em 2018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3209544"/>
            <a:ext cx="457200" cy="45720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145536"/>
            <a:ext cx="48463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Datas de compra do lote urbano 06 e das matrículas 29.954 e 33.516</a:t>
            </a:r>
          </a:p>
        </p:txBody>
      </p:sp>
      <p:sp>
        <p:nvSpPr>
          <p:cNvPr id="21" name="Oval 20"/>
          <p:cNvSpPr/>
          <p:nvPr/>
        </p:nvSpPr>
        <p:spPr>
          <a:xfrm>
            <a:off x="6172200" y="4105655"/>
            <a:ext cx="457200" cy="45720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041648"/>
            <a:ext cx="48463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Destino de 5 bens de 2018 sem documento (Santa Rita, Boff, Ouro Verde, apto 303)</a:t>
            </a:r>
          </a:p>
        </p:txBody>
      </p:sp>
      <p:sp>
        <p:nvSpPr>
          <p:cNvPr id="23" name="Oval 22"/>
          <p:cNvSpPr/>
          <p:nvPr/>
        </p:nvSpPr>
        <p:spPr>
          <a:xfrm>
            <a:off x="6172200" y="5001768"/>
            <a:ext cx="457200" cy="457200"/>
          </a:xfrm>
          <a:prstGeom prst="ellipse">
            <a:avLst/>
          </a:prstGeom>
          <a:solidFill>
            <a:srgbClr val="4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937760"/>
            <a:ext cx="48463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B27"/>
                </a:solidFill>
                <a:latin typeface="Calibri"/>
              </a:rPr>
              <a:t>De quem é o apartamento 401 do Edifício Luiz Siviero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A64"/>
                </a:solidFill>
                <a:latin typeface="Calibri"/>
              </a:rPr>
              <a:t>O envio das perguntas é decisão do Luís.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Demais empresas: estudo começando agora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77272" y="566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01_fontes/outros/conferencia-discrepancias.md (26/10/2026)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3154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Empresa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Inventário do grupo, 31.12.2024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marL="73152" marR="73152" marT="36576" marB="36576" anchor="ctr">
                    <a:solidFill>
                      <a:srgbClr val="1F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Hotel Araçá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R$ 58.076.823,20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Conferido em 26/10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Transportadora Irmãos Siviero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R$ 16.374.986,00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Conferido; nota de R$ 1,135 mi a explicar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Rádio Comunidade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R$ 2.698.000,00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Conferido em 26/10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Ceval Terraplenagem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R$ 315.000,00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Conferido em 26/10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Associação Cultural, Turismo, Siviero Transportes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R$ 0,00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Empresas baixadas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Hotel Princesa dos Vales, Abastecedora, São Crispin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não conferido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27"/>
                          </a:solidFill>
                          <a:latin typeface="Calibri"/>
                        </a:rPr>
                        <a:t>Inventários existem; ainda não conferidos</a:t>
                      </a:r>
                    </a:p>
                  </a:txBody>
                  <a:tcPr marL="73152" marR="73152" marT="36576" marB="36576" anchor="ctr">
                    <a:solidFill>
                      <a:srgbClr val="EC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2E"/>
                </a:solidFill>
                <a:latin typeface="Cambria"/>
              </a:rPr>
              <a:t>Pontos já identificados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Fazenda São Crispin: Rafael avalia 407,53 ha (R$ 44,83 mi); o documento do grupo indica 411,43 ha restantes. Falta decidir a base de área.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Transportadora: uma nota acrescenta R$ 1,135 mi ao capital referente a 3 itens que somam R$ 1,02 mi (diferença de R$ 115 mil).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00_PLANO.md, seção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15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353312"/>
            <a:ext cx="548640" cy="54864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80160"/>
            <a:ext cx="9966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2E"/>
                </a:solidFill>
                <a:latin typeface="Cambria"/>
              </a:rPr>
              <a:t>SEI, fechar a Parte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64207"/>
            <a:ext cx="9966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Regra única para “possível APP”, com o Simioni; ficha de fechamento; nova revisão independente de tudo o que foi aprovado.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40864"/>
            <a:ext cx="548640" cy="54864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67712"/>
            <a:ext cx="9966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2E"/>
                </a:solidFill>
                <a:latin typeface="Cambria"/>
              </a:rPr>
              <a:t>SEI, Partes 4 a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51760"/>
            <a:ext cx="9966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Destino dos bens que saíram (após o método do Luís), não abordados, duplicidades e observações.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28416"/>
            <a:ext cx="548640" cy="54864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55264"/>
            <a:ext cx="9966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2E"/>
                </a:solidFill>
                <a:latin typeface="Cambria"/>
              </a:rPr>
              <a:t>Demais empresas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639312"/>
            <a:ext cx="9966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Mesmo método da SEI, empresa por empresa, partindo da conferência de 26/10.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315968"/>
            <a:ext cx="548640" cy="54864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42816"/>
            <a:ext cx="9966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2E"/>
                </a:solidFill>
                <a:latin typeface="Cambria"/>
              </a:rPr>
              <a:t>Perguntas ao grupo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26864"/>
            <a:ext cx="9966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Envio quando o Luís decidir.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30368"/>
            <a:ext cx="9966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2E"/>
                </a:solidFill>
                <a:latin typeface="Cambria"/>
              </a:rPr>
              <a:t>Esta apresentação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614416"/>
            <a:ext cx="9966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Novas versões (v2, v3...) conforme o trabalho técnico for aprovado.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2E"/>
                </a:solidFill>
                <a:latin typeface="Cambria"/>
              </a:rPr>
              <a:t>O que ainda é provisório neste esboço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Rascunho v1 · 28/10/2026 · Fonte: log-decisoes.md; planilha-mestre-sei.xlsx, aba 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A64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85A22"/>
                </a:solidFill>
                <a:latin typeface="Cambria"/>
              </a:rPr>
              <a:t>Soma adotada da SEI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063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R$ 153,97 mi muda com o Simioni, os loteamentos contratados, a “possível APP”, os lotes “FAMÍLIA SIVIERO” e os lotes de terceiros.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258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79" y="15087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85A22"/>
                </a:solidFill>
                <a:latin typeface="Cambria"/>
              </a:rPr>
              <a:t>Decisões já aprovadas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011680"/>
            <a:ext cx="3063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Passam por nova revisão independente antes de fechar a Parte 3. Algumas dependem de perguntas ao grupo (3, 4, 7 e 8).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258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9" y="15087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85A22"/>
                </a:solidFill>
                <a:latin typeface="Cambria"/>
              </a:rPr>
              <a:t>Data-base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011680"/>
            <a:ext cx="3063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As avaliações de Rafael são de 2026; o tratamento delas frente a 31.12.2024 ainda não foi decidido.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85A22"/>
                </a:solidFill>
                <a:latin typeface="Cambria"/>
              </a:rPr>
              <a:t>Bens de 2018 sem par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3063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O destino de cada um sai da Parte 4; parte pode ser só diferença de descrição.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8404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79" y="40233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85A22"/>
                </a:solidFill>
                <a:latin typeface="Cambria"/>
              </a:rPr>
              <a:t>Bens em duas empresas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4526280"/>
            <a:ext cx="3063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São suspeitas, não conclusões. A verificação é feita na Parte 6.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8404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9" y="40233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85A22"/>
                </a:solidFill>
                <a:latin typeface="Cambria"/>
              </a:rPr>
              <a:t>Demais empresas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526280"/>
            <a:ext cx="30632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7"/>
                </a:solidFill>
                <a:latin typeface="Calibri"/>
              </a:rPr>
              <a:t>Totais da conferência de 26/10, parcialmente desatualizada.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3031</Words>
  <Application>Microsoft Office PowerPoint</Application>
  <PresentationFormat>Widescreen</PresentationFormat>
  <Paragraphs>344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Cisão Siviero — esboço v1</dc:title>
  <dc:subject/>
  <dc:creator>Luís Siviero (rascunho)</dc:creator>
  <cp:keywords/>
  <dc:description>generated using python-pptx</dc:description>
  <cp:lastModifiedBy>Luís Artur Siviero</cp:lastModifiedBy>
  <cp:revision>1</cp:revision>
  <dcterms:created xsi:type="dcterms:W3CDTF">2013-01-27T09:14:16Z</dcterms:created>
  <dcterms:modified xsi:type="dcterms:W3CDTF">2026-10-28T19:58:11Z</dcterms:modified>
  <cp:category/>
</cp:coreProperties>
</file>